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40"/>
  </p:notesMasterIdLst>
  <p:sldIdLst>
    <p:sldId id="256" r:id="rId3"/>
    <p:sldId id="257" r:id="rId4"/>
    <p:sldId id="258" r:id="rId5"/>
    <p:sldId id="259" r:id="rId6"/>
    <p:sldId id="337" r:id="rId7"/>
    <p:sldId id="363" r:id="rId8"/>
    <p:sldId id="354" r:id="rId9"/>
    <p:sldId id="364" r:id="rId10"/>
    <p:sldId id="356" r:id="rId11"/>
    <p:sldId id="357" r:id="rId12"/>
    <p:sldId id="366" r:id="rId13"/>
    <p:sldId id="359" r:id="rId14"/>
    <p:sldId id="358" r:id="rId15"/>
    <p:sldId id="360" r:id="rId16"/>
    <p:sldId id="264" r:id="rId17"/>
    <p:sldId id="265" r:id="rId18"/>
    <p:sldId id="338" r:id="rId19"/>
    <p:sldId id="339" r:id="rId20"/>
    <p:sldId id="340" r:id="rId21"/>
    <p:sldId id="341" r:id="rId22"/>
    <p:sldId id="342" r:id="rId23"/>
    <p:sldId id="343" r:id="rId24"/>
    <p:sldId id="344" r:id="rId25"/>
    <p:sldId id="345" r:id="rId26"/>
    <p:sldId id="346" r:id="rId27"/>
    <p:sldId id="347" r:id="rId28"/>
    <p:sldId id="271" r:id="rId29"/>
    <p:sldId id="266" r:id="rId30"/>
    <p:sldId id="348" r:id="rId31"/>
    <p:sldId id="349" r:id="rId32"/>
    <p:sldId id="350" r:id="rId33"/>
    <p:sldId id="351" r:id="rId34"/>
    <p:sldId id="353" r:id="rId35"/>
    <p:sldId id="352" r:id="rId36"/>
    <p:sldId id="279" r:id="rId37"/>
    <p:sldId id="362" r:id="rId38"/>
    <p:sldId id="365" r:id="rId39"/>
  </p:sldIdLst>
  <p:sldSz cx="12192000" cy="6858000"/>
  <p:notesSz cx="6858000" cy="9144000"/>
  <p:embeddedFontLst>
    <p:embeddedFont>
      <p:font typeface="Comic Sans MS" panose="030F0702030302020204" pitchFamily="66" charset="0"/>
      <p:regular r:id="rId41"/>
      <p:bold r:id="rId42"/>
      <p:italic r:id="rId43"/>
      <p:boldItalic r:id="rId44"/>
    </p:embeddedFont>
    <p:embeddedFont>
      <p:font typeface="Poppins" panose="00000500000000000000" pitchFamily="2" charset="0"/>
      <p:regular r:id="rId45"/>
      <p:bold r:id="rId46"/>
      <p:italic r:id="rId47"/>
      <p:boldItalic r:id="rId48"/>
    </p:embeddedFont>
    <p:embeddedFont>
      <p:font typeface="Source Sans Pro" panose="020B050303040302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3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104"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102"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100" Type="http://customschemas.google.com/relationships/presentationmetadata" Target="metadata"/><Relationship Id="rId8" Type="http://schemas.openxmlformats.org/officeDocument/2006/relationships/slide" Target="slides/slide6.xml"/><Relationship Id="rId51" Type="http://schemas.openxmlformats.org/officeDocument/2006/relationships/font" Target="fonts/font1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font" Target="fonts/font12.fntdata"/><Relationship Id="rId10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0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71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55037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8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78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448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38413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28742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4453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69102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8609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53525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0431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581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8823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11027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850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65825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5426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5604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3198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021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385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1060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0436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15a699482b_0_5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7" name="Google Shape;427;g215a699482b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143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198033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g21194ee596e_0_1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16" name="Google Shape;16;g21194ee596e_0_119"/>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 name="Google Shape;17;g21194ee596e_0_119"/>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18" name="Google Shape;18;g21194ee596e_0_119"/>
          <p:cNvSpPr txBox="1"/>
          <p:nvPr/>
        </p:nvSpPr>
        <p:spPr>
          <a:xfrm>
            <a:off x="5060460" y="6306200"/>
            <a:ext cx="2071200" cy="1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g21194ee596e_0_14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21194ee596e_0_148"/>
          <p:cNvSpPr>
            <a:spLocks noGrp="1"/>
          </p:cNvSpPr>
          <p:nvPr>
            <p:ph type="pic" idx="2"/>
          </p:nvPr>
        </p:nvSpPr>
        <p:spPr>
          <a:xfrm>
            <a:off x="5183188" y="987425"/>
            <a:ext cx="6172200" cy="4873500"/>
          </a:xfrm>
          <a:prstGeom prst="rect">
            <a:avLst/>
          </a:prstGeom>
          <a:noFill/>
          <a:ln>
            <a:noFill/>
          </a:ln>
        </p:spPr>
      </p:sp>
      <p:sp>
        <p:nvSpPr>
          <p:cNvPr id="52" name="Google Shape;52;g21194ee596e_0_148"/>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3" name="Google Shape;53;g21194ee596e_0_14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g21194ee596e_0_14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g21194ee596e_0_14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79" name="Google Shape;79;p19"/>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0" name="Google Shape;80;p19"/>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9"/>
          <p:cNvSpPr txBox="1"/>
          <p:nvPr/>
        </p:nvSpPr>
        <p:spPr>
          <a:xfrm>
            <a:off x="5060460" y="6306200"/>
            <a:ext cx="2071080"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pic>
        <p:nvPicPr>
          <p:cNvPr id="138" name="Google Shape;138;g21194ee596e_0_101"/>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9" name="Google Shape;150;p2">
            <a:extLst>
              <a:ext uri="{FF2B5EF4-FFF2-40B4-BE49-F238E27FC236}">
                <a16:creationId xmlns:a16="http://schemas.microsoft.com/office/drawing/2014/main"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id="{B7CA4B9B-2858-4A36-B12E-2F96EC08DC32}"/>
              </a:ext>
            </a:extLst>
          </p:cNvPr>
          <p:cNvSpPr txBox="1"/>
          <p:nvPr/>
        </p:nvSpPr>
        <p:spPr>
          <a:xfrm>
            <a:off x="3596640" y="1879730"/>
            <a:ext cx="5379720" cy="2585323"/>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err="1">
                <a:solidFill>
                  <a:schemeClr val="bg1"/>
                </a:solidFill>
                <a:latin typeface="Poppins" panose="020B0604020202020204" charset="0"/>
                <a:cs typeface="Poppins" panose="020B0604020202020204" charset="0"/>
              </a:rPr>
              <a:t>Analisis</a:t>
            </a:r>
            <a:r>
              <a:rPr lang="en-IN" sz="5400" b="1" dirty="0">
                <a:solidFill>
                  <a:schemeClr val="bg1"/>
                </a:solidFill>
                <a:latin typeface="Poppins" panose="020B0604020202020204" charset="0"/>
                <a:cs typeface="Poppins" panose="020B0604020202020204" charset="0"/>
              </a:rPr>
              <a:t> </a:t>
            </a:r>
            <a:r>
              <a:rPr lang="en-IN" sz="5400" b="1" dirty="0" err="1">
                <a:solidFill>
                  <a:schemeClr val="bg1"/>
                </a:solidFill>
                <a:latin typeface="Poppins" panose="020B0604020202020204" charset="0"/>
                <a:cs typeface="Poppins" panose="020B0604020202020204" charset="0"/>
              </a:rPr>
              <a:t>Penjualan</a:t>
            </a:r>
            <a:r>
              <a:rPr lang="en-IN" sz="5400" b="1" dirty="0">
                <a:solidFill>
                  <a:schemeClr val="bg1"/>
                </a:solidFill>
                <a:latin typeface="Poppins" panose="020B0604020202020204" charset="0"/>
                <a:cs typeface="Poppins" panose="020B0604020202020204" charset="0"/>
              </a:rPr>
              <a:t> Regional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lvl="0" indent="-342900">
              <a:spcBef>
                <a:spcPts val="1200"/>
              </a:spcBef>
              <a:buClr>
                <a:srgbClr val="FFFFFF"/>
              </a:buClr>
              <a:buSzPts val="1800"/>
              <a:buFont typeface="Arial" panose="020B0604020202020204" pitchFamily="34" charset="0"/>
              <a:buChar char="•"/>
            </a:pPr>
            <a:r>
              <a:rPr lang="en-IN" sz="2000" dirty="0" err="1">
                <a:solidFill>
                  <a:schemeClr val="bg1"/>
                </a:solidFill>
                <a:latin typeface="Poppins" panose="020B0604020202020204" charset="0"/>
                <a:cs typeface="Poppins" panose="020B0604020202020204" charset="0"/>
              </a:rPr>
              <a:t>Pernyataan</a:t>
            </a:r>
            <a:r>
              <a:rPr lang="en-IN" sz="2000" dirty="0">
                <a:solidFill>
                  <a:schemeClr val="bg1"/>
                </a:solidFill>
                <a:latin typeface="Poppins" panose="020B0604020202020204" charset="0"/>
                <a:cs typeface="Poppins" panose="020B0604020202020204" charset="0"/>
              </a:rPr>
              <a:t> </a:t>
            </a:r>
            <a:r>
              <a:rPr lang="en-IN" sz="2000" dirty="0" err="1">
                <a:solidFill>
                  <a:schemeClr val="bg1"/>
                </a:solidFill>
                <a:latin typeface="Poppins" panose="020B0604020202020204" charset="0"/>
                <a:cs typeface="Poppins" panose="020B0604020202020204" charset="0"/>
              </a:rPr>
              <a:t>Masalah</a:t>
            </a:r>
            <a:r>
              <a:rPr lang="en-IN" sz="2000" dirty="0">
                <a:solidFill>
                  <a:schemeClr val="bg1"/>
                </a:solidFill>
                <a:latin typeface="Poppins" panose="020B0604020202020204" charset="0"/>
                <a:cs typeface="Poppins" panose="020B0604020202020204" charset="0"/>
              </a:rPr>
              <a:t>
</a:t>
            </a:r>
            <a:r>
              <a:rPr lang="en-IN" sz="2000" dirty="0" err="1">
                <a:solidFill>
                  <a:schemeClr val="bg1"/>
                </a:solidFill>
                <a:latin typeface="Poppins" panose="020B0604020202020204" charset="0"/>
                <a:cs typeface="Poppins" panose="020B0604020202020204" charset="0"/>
              </a:rPr>
              <a:t>Pendekatan</a:t>
            </a:r>
            <a:r>
              <a:rPr lang="en-IN" sz="2000" dirty="0">
                <a:solidFill>
                  <a:schemeClr val="bg1"/>
                </a:solidFill>
                <a:latin typeface="Poppins" panose="020B0604020202020204" charset="0"/>
                <a:cs typeface="Poppins" panose="020B0604020202020204" charset="0"/>
              </a:rPr>
              <a:t>
</a:t>
            </a:r>
            <a:r>
              <a:rPr lang="en-IN" sz="2000" dirty="0" err="1">
                <a:solidFill>
                  <a:schemeClr val="bg1"/>
                </a:solidFill>
                <a:latin typeface="Poppins" panose="020B0604020202020204" charset="0"/>
                <a:cs typeface="Poppins" panose="020B0604020202020204" charset="0"/>
              </a:rPr>
              <a:t>Ikhtisar</a:t>
            </a:r>
            <a:r>
              <a:rPr lang="en-IN" sz="2000" dirty="0">
                <a:solidFill>
                  <a:schemeClr val="bg1"/>
                </a:solidFill>
                <a:latin typeface="Poppins" panose="020B0604020202020204" charset="0"/>
                <a:cs typeface="Poppins" panose="020B0604020202020204" charset="0"/>
              </a:rPr>
              <a:t> Data
Alur </a:t>
            </a:r>
            <a:r>
              <a:rPr lang="en-IN" sz="2000" dirty="0" err="1">
                <a:solidFill>
                  <a:schemeClr val="bg1"/>
                </a:solidFill>
                <a:latin typeface="Poppins" panose="020B0604020202020204" charset="0"/>
                <a:cs typeface="Poppins" panose="020B0604020202020204" charset="0"/>
              </a:rPr>
              <a:t>Kerja</a:t>
            </a:r>
            <a:r>
              <a:rPr lang="en-IN" sz="2000" dirty="0">
                <a:solidFill>
                  <a:schemeClr val="bg1"/>
                </a:solidFill>
                <a:latin typeface="Poppins" panose="020B0604020202020204" charset="0"/>
                <a:cs typeface="Poppins" panose="020B0604020202020204" charset="0"/>
              </a:rPr>
              <a:t> </a:t>
            </a:r>
            <a:r>
              <a:rPr lang="en-IN" sz="2000" dirty="0" err="1">
                <a:solidFill>
                  <a:schemeClr val="bg1"/>
                </a:solidFill>
                <a:latin typeface="Poppins" panose="020B0604020202020204" charset="0"/>
                <a:cs typeface="Poppins" panose="020B0604020202020204" charset="0"/>
              </a:rPr>
              <a:t>Proyek</a:t>
            </a:r>
            <a:r>
              <a:rPr lang="en-IN" sz="2000" dirty="0">
                <a:solidFill>
                  <a:schemeClr val="bg1"/>
                </a:solidFill>
                <a:latin typeface="Poppins" panose="020B0604020202020204" charset="0"/>
                <a:cs typeface="Poppins" panose="020B0604020202020204" charset="0"/>
              </a:rPr>
              <a:t>
</a:t>
            </a:r>
            <a:r>
              <a:rPr lang="en-IN" sz="2000" dirty="0" err="1">
                <a:solidFill>
                  <a:schemeClr val="bg1"/>
                </a:solidFill>
                <a:latin typeface="Poppins" panose="020B0604020202020204" charset="0"/>
                <a:cs typeface="Poppins" panose="020B0604020202020204" charset="0"/>
              </a:rPr>
              <a:t>Analisis</a:t>
            </a:r>
            <a:r>
              <a:rPr lang="en-IN" sz="2000" dirty="0">
                <a:solidFill>
                  <a:schemeClr val="bg1"/>
                </a:solidFill>
                <a:latin typeface="Poppins" panose="020B0604020202020204" charset="0"/>
                <a:cs typeface="Poppins" panose="020B0604020202020204" charset="0"/>
              </a:rPr>
              <a:t> Data </a:t>
            </a:r>
            <a:r>
              <a:rPr lang="en-IN" sz="2000" dirty="0" err="1">
                <a:solidFill>
                  <a:schemeClr val="bg1"/>
                </a:solidFill>
                <a:latin typeface="Poppins" panose="020B0604020202020204" charset="0"/>
                <a:cs typeface="Poppins" panose="020B0604020202020204" charset="0"/>
              </a:rPr>
              <a:t>Eksploratif</a:t>
            </a:r>
            <a:r>
              <a:rPr lang="en-IN" sz="2000" dirty="0">
                <a:solidFill>
                  <a:schemeClr val="bg1"/>
                </a:solidFill>
                <a:latin typeface="Poppins" panose="020B0604020202020204" charset="0"/>
                <a:cs typeface="Poppins" panose="020B0604020202020204" charset="0"/>
              </a:rPr>
              <a:t>
</a:t>
            </a:r>
            <a:r>
              <a:rPr lang="en-IN" sz="2000" dirty="0" err="1">
                <a:solidFill>
                  <a:schemeClr val="bg1"/>
                </a:solidFill>
                <a:latin typeface="Poppins" panose="020B0604020202020204" charset="0"/>
                <a:cs typeface="Poppins" panose="020B0604020202020204" charset="0"/>
              </a:rPr>
              <a:t>Wawasan</a:t>
            </a:r>
            <a:r>
              <a:rPr lang="en-IN" sz="2000" dirty="0">
                <a:solidFill>
                  <a:schemeClr val="bg1"/>
                </a:solidFill>
                <a:latin typeface="Poppins" panose="020B0604020202020204" charset="0"/>
                <a:cs typeface="Poppins" panose="020B0604020202020204" charset="0"/>
              </a:rPr>
              <a:t> Utama 
</a:t>
            </a:r>
            <a:r>
              <a:rPr lang="en-IN" sz="2000" dirty="0" err="1">
                <a:solidFill>
                  <a:schemeClr val="bg1"/>
                </a:solidFill>
                <a:latin typeface="Poppins" panose="020B0604020202020204" charset="0"/>
                <a:cs typeface="Poppins" panose="020B0604020202020204" charset="0"/>
              </a:rPr>
              <a:t>Rekomendasi</a:t>
            </a:r>
            <a:r>
              <a:rPr lang="en-IN" sz="2000" dirty="0">
                <a:solidFill>
                  <a:schemeClr val="bg1"/>
                </a:solidFill>
                <a:latin typeface="Poppins" panose="020B0604020202020204" charset="0"/>
                <a:cs typeface="Poppins" panose="020B0604020202020204" charset="0"/>
              </a:rPr>
              <a:t>
</a:t>
            </a:r>
            <a:r>
              <a:rPr lang="en-IN" sz="2000" dirty="0" err="1">
                <a:solidFill>
                  <a:schemeClr val="bg1"/>
                </a:solidFill>
                <a:latin typeface="Poppins" panose="020B0604020202020204" charset="0"/>
                <a:cs typeface="Poppins" panose="020B0604020202020204" charset="0"/>
              </a:rPr>
              <a:t>Pratinjau</a:t>
            </a:r>
            <a:r>
              <a:rPr lang="en-IN" sz="2000" dirty="0">
                <a:solidFill>
                  <a:schemeClr val="bg1"/>
                </a:solidFill>
                <a:latin typeface="Poppins" panose="020B0604020202020204" charset="0"/>
                <a:cs typeface="Poppins" panose="020B0604020202020204" charset="0"/>
              </a:rPr>
              <a:t> </a:t>
            </a:r>
            <a:r>
              <a:rPr lang="en-IN" sz="2000" dirty="0" err="1">
                <a:solidFill>
                  <a:schemeClr val="bg1"/>
                </a:solidFill>
                <a:latin typeface="Poppins" panose="020B0604020202020204" charset="0"/>
                <a:cs typeface="Poppins" panose="020B0604020202020204" charset="0"/>
              </a:rPr>
              <a:t>Dasbor</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2800" b="1">
                <a:solidFill>
                  <a:srgbClr val="FFFFFF"/>
                </a:solidFill>
                <a:latin typeface="Poppins"/>
                <a:ea typeface="Poppins"/>
                <a:cs typeface="Poppins"/>
                <a:sym typeface="Poppins"/>
              </a:rPr>
              <a:t>Pernyataan Masalah</a:t>
            </a:r>
            <a:endParaRPr sz="28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0" name="Google Shape;170;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1" name="Google Shape;171;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4" name="Google Shape;174;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5" name="Google Shape;175;g21194ee596e_0_174"/>
          <p:cNvSpPr txBox="1"/>
          <p:nvPr/>
        </p:nvSpPr>
        <p:spPr>
          <a:xfrm>
            <a:off x="718370" y="4046180"/>
            <a:ext cx="10305230" cy="1477328"/>
          </a:xfrm>
          <a:prstGeom prst="rect">
            <a:avLst/>
          </a:prstGeom>
          <a:noFill/>
          <a:ln>
            <a:noFill/>
          </a:ln>
        </p:spPr>
        <p:txBody>
          <a:bodyPr spcFirstLastPara="1" wrap="square" lIns="0" tIns="0" rIns="0" bIns="0" anchor="t" anchorCtr="0">
            <a:spAutoFit/>
          </a:bodyPr>
          <a:lstStyle/>
          <a:p>
            <a:pPr marL="425450" lvl="0" indent="-285750">
              <a:lnSpc>
                <a:spcPct val="150000"/>
              </a:lnSpc>
              <a:buClr>
                <a:schemeClr val="dk1"/>
              </a:buClr>
              <a:buSzPts val="1400"/>
              <a:buFont typeface="Arial" panose="020B0604020202020204" pitchFamily="34" charset="0"/>
              <a:buChar char="•"/>
            </a:pPr>
            <a:r>
              <a:rPr lang="en-GB" sz="1600" dirty="0">
                <a:latin typeface="Poppins" panose="020B0604020202020204" charset="0"/>
                <a:cs typeface="Poppins" panose="020B0604020202020204" charset="0"/>
              </a:rPr>
              <a:t>Kinerja </a:t>
            </a:r>
            <a:r>
              <a:rPr lang="en-GB" sz="1600" dirty="0" err="1">
                <a:latin typeface="Poppins" panose="020B0604020202020204" charset="0"/>
                <a:cs typeface="Poppins" panose="020B0604020202020204" charset="0"/>
              </a:rPr>
              <a:t>pendapatan</a:t>
            </a:r>
            <a:r>
              <a:rPr lang="en-GB" sz="1600" dirty="0">
                <a:latin typeface="Poppins" panose="020B0604020202020204" charset="0"/>
                <a:cs typeface="Poppins" panose="020B0604020202020204" charset="0"/>
              </a:rPr>
              <a:t> dan </a:t>
            </a:r>
            <a:r>
              <a:rPr lang="en-GB" sz="1600" dirty="0" err="1">
                <a:latin typeface="Poppins" panose="020B0604020202020204" charset="0"/>
                <a:cs typeface="Poppins" panose="020B0604020202020204" charset="0"/>
              </a:rPr>
              <a:t>laba</a:t>
            </a:r>
            <a:r>
              <a:rPr lang="en-GB" sz="1600" dirty="0">
                <a:latin typeface="Poppins" panose="020B0604020202020204" charset="0"/>
                <a:cs typeface="Poppins" panose="020B0604020202020204" charset="0"/>
              </a:rPr>
              <a:t> yang </a:t>
            </a:r>
            <a:r>
              <a:rPr lang="en-GB" sz="1600" dirty="0" err="1">
                <a:latin typeface="Poppins" panose="020B0604020202020204" charset="0"/>
                <a:cs typeface="Poppins" panose="020B0604020202020204" charset="0"/>
              </a:rPr>
              <a:t>tidak</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konsisten</a:t>
            </a:r>
            <a:r>
              <a:rPr lang="en-GB" sz="1600" dirty="0">
                <a:latin typeface="Poppins" panose="020B0604020202020204" charset="0"/>
                <a:cs typeface="Poppins" panose="020B0604020202020204" charset="0"/>
              </a:rPr>
              <a:t> di </a:t>
            </a:r>
            <a:r>
              <a:rPr lang="en-GB" sz="1600" dirty="0" err="1">
                <a:latin typeface="Poppins" panose="020B0604020202020204" charset="0"/>
                <a:cs typeface="Poppins" panose="020B0604020202020204" charset="0"/>
              </a:rPr>
              <a:t>berbagai</a:t>
            </a:r>
            <a:r>
              <a:rPr lang="en-GB" sz="1600" dirty="0">
                <a:latin typeface="Poppins" panose="020B0604020202020204" charset="0"/>
                <a:cs typeface="Poppins" panose="020B0604020202020204" charset="0"/>
              </a:rPr>
              <a:t> wilayah AS</a:t>
            </a:r>
          </a:p>
          <a:p>
            <a:pPr marL="425450" lvl="0" indent="-285750">
              <a:lnSpc>
                <a:spcPct val="150000"/>
              </a:lnSpc>
              <a:buClr>
                <a:schemeClr val="dk1"/>
              </a:buClr>
              <a:buSzPts val="1400"/>
              <a:buFont typeface="Arial" panose="020B0604020202020204" pitchFamily="34" charset="0"/>
              <a:buChar char="•"/>
            </a:pP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Kurangnya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visibilitas</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terhadap</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fluktuasi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musiman</a:t>
            </a:r>
            <a:r>
              <a:rPr lang="en-GB" sz="1600" dirty="0">
                <a:latin typeface="Poppins" panose="020B0604020202020204" charset="0"/>
                <a:cs typeface="Poppins" panose="020B0604020202020204" charset="0"/>
              </a:rPr>
              <a:t>, SKU </a:t>
            </a:r>
            <a:r>
              <a:rPr lang="en-GB" sz="1600" dirty="0" err="1">
                <a:latin typeface="Poppins" panose="020B0604020202020204" charset="0"/>
                <a:cs typeface="Poppins" panose="020B0604020202020204" charset="0"/>
              </a:rPr>
              <a:t>teratas</a:t>
            </a:r>
            <a:r>
              <a:rPr lang="en-GB" sz="1600" dirty="0">
                <a:latin typeface="Poppins" panose="020B0604020202020204" charset="0"/>
                <a:cs typeface="Poppins" panose="020B0604020202020204" charset="0"/>
              </a:rPr>
              <a:t>, dan </a:t>
            </a:r>
            <a:r>
              <a:rPr lang="en-GB" sz="1600" dirty="0" err="1">
                <a:latin typeface="Poppins" panose="020B0604020202020204" charset="0"/>
                <a:cs typeface="Poppins" panose="020B0604020202020204" charset="0"/>
              </a:rPr>
              <a:t>profitabilitas</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saluran</a:t>
            </a:r>
            <a:r>
              <a:rPr lang="en-GB" sz="1600" dirty="0">
                <a:latin typeface="Poppins" panose="020B0604020202020204" charset="0"/>
                <a:cs typeface="Poppins" panose="020B0604020202020204" charset="0"/>
              </a:rPr>
              <a:t> </a:t>
            </a:r>
          </a:p>
          <a:p>
            <a:pPr marL="425450" lvl="0" indent="-285750">
              <a:lnSpc>
                <a:spcPct val="150000"/>
              </a:lnSpc>
              <a:buClr>
                <a:schemeClr val="dk1"/>
              </a:buClr>
              <a:buSzPts val="1400"/>
              <a:buFont typeface="Arial" panose="020B0604020202020204" pitchFamily="34" charset="0"/>
              <a:buChar char="•"/>
            </a:pPr>
            <a:r>
              <a:rPr lang="en-GB" sz="1600" dirty="0" err="1">
                <a:latin typeface="Poppins" panose="020B0604020202020204" charset="0"/>
                <a:cs typeface="Poppins" panose="020B0604020202020204" charset="0"/>
              </a:rPr>
              <a:t>Tujuan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Memanfaatkan</a:t>
            </a:r>
            <a:r>
              <a:rPr lang="en-GB" sz="1600" dirty="0">
                <a:latin typeface="Poppins" panose="020B0604020202020204" charset="0"/>
                <a:cs typeface="Poppins" panose="020B0604020202020204" charset="0"/>
              </a:rPr>
              <a:t> 5 </a:t>
            </a:r>
            <a:r>
              <a:rPr lang="en-GB" sz="1600" dirty="0" err="1">
                <a:latin typeface="Poppins" panose="020B0604020202020204" charset="0"/>
                <a:cs typeface="Poppins" panose="020B0604020202020204" charset="0"/>
              </a:rPr>
              <a:t>tahun</a:t>
            </a:r>
            <a:r>
              <a:rPr lang="en-GB" sz="1600" dirty="0">
                <a:latin typeface="Poppins" panose="020B0604020202020204" charset="0"/>
                <a:cs typeface="Poppins" panose="020B0604020202020204" charset="0"/>
              </a:rPr>
              <a:t> data </a:t>
            </a:r>
            <a:r>
              <a:rPr lang="en-GB" sz="1600" dirty="0" err="1">
                <a:latin typeface="Poppins" panose="020B0604020202020204" charset="0"/>
                <a:cs typeface="Poppins" panose="020B0604020202020204" charset="0"/>
              </a:rPr>
              <a:t>historis</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untuk</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menentukan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tuas</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pertumbuhan</a:t>
            </a:r>
            <a:r>
              <a:rPr lang="en-GB" sz="1600" dirty="0">
                <a:latin typeface="Poppins" panose="020B0604020202020204" charset="0"/>
                <a:cs typeface="Poppins" panose="020B0604020202020204" charset="0"/>
              </a:rPr>
              <a:t> dan </a:t>
            </a:r>
            <a:r>
              <a:rPr lang="en-GB" sz="1600" dirty="0" err="1">
                <a:latin typeface="Poppins" panose="020B0604020202020204" charset="0"/>
                <a:cs typeface="Poppins" panose="020B0604020202020204" charset="0"/>
              </a:rPr>
              <a:t>mengoptimalkan</a:t>
            </a:r>
            <a:r>
              <a:rPr lang="en-GB" sz="1600" dirty="0">
                <a:latin typeface="Poppins" panose="020B0604020202020204" charset="0"/>
                <a:cs typeface="Poppins" panose="020B0604020202020204" charset="0"/>
              </a:rPr>
              <a:t> strategi</a:t>
            </a:r>
            <a:endParaRPr sz="16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
        <p:nvSpPr>
          <p:cNvPr id="11" name="Google Shape;172;g21194ee596e_0_174">
            <a:extLst>
              <a:ext uri="{FF2B5EF4-FFF2-40B4-BE49-F238E27FC236}">
                <a16:creationId xmlns:a16="http://schemas.microsoft.com/office/drawing/2014/main" id="{8C5D04DA-9493-4639-B51F-7B0D3CD03EE2}"/>
              </a:ext>
            </a:extLst>
          </p:cNvPr>
          <p:cNvSpPr txBox="1">
            <a:spLocks/>
          </p:cNvSpPr>
          <p:nvPr/>
        </p:nvSpPr>
        <p:spPr>
          <a:xfrm>
            <a:off x="802640" y="3446518"/>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a:t>Apa pertanyaan bisnisnya?</a:t>
            </a:r>
            <a:endParaRPr lang="en-IN" sz="2400" b="0" dirty="0"/>
          </a:p>
        </p:txBody>
      </p:sp>
      <p:sp>
        <p:nvSpPr>
          <p:cNvPr id="2" name="Oval 1">
            <a:extLst>
              <a:ext uri="{FF2B5EF4-FFF2-40B4-BE49-F238E27FC236}">
                <a16:creationId xmlns:a16="http://schemas.microsoft.com/office/drawing/2014/main" id="{01E11A21-3B16-475C-9D2F-A65D1BA6D1EB}"/>
              </a:ext>
            </a:extLst>
          </p:cNvPr>
          <p:cNvSpPr/>
          <p:nvPr/>
        </p:nvSpPr>
        <p:spPr>
          <a:xfrm>
            <a:off x="531977" y="417364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5BC3889-2C67-4B20-B29F-006138D2D1DB}"/>
              </a:ext>
            </a:extLst>
          </p:cNvPr>
          <p:cNvSpPr/>
          <p:nvPr/>
        </p:nvSpPr>
        <p:spPr>
          <a:xfrm>
            <a:off x="520859" y="490389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B577B2B-77F8-416B-AA83-405D34D1834E}"/>
              </a:ext>
            </a:extLst>
          </p:cNvPr>
          <p:cNvSpPr/>
          <p:nvPr/>
        </p:nvSpPr>
        <p:spPr>
          <a:xfrm>
            <a:off x="531977" y="563414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t>
            </a:r>
          </a:p>
        </p:txBody>
      </p:sp>
      <p:sp>
        <p:nvSpPr>
          <p:cNvPr id="3" name="TextBox 2">
            <a:extLst>
              <a:ext uri="{FF2B5EF4-FFF2-40B4-BE49-F238E27FC236}">
                <a16:creationId xmlns:a16="http://schemas.microsoft.com/office/drawing/2014/main" id="{F512B818-0481-4D4B-A218-CFCC6EAC3762}"/>
              </a:ext>
            </a:extLst>
          </p:cNvPr>
          <p:cNvSpPr txBox="1"/>
          <p:nvPr/>
        </p:nvSpPr>
        <p:spPr>
          <a:xfrm>
            <a:off x="709780" y="1631126"/>
            <a:ext cx="10119360" cy="1477328"/>
          </a:xfrm>
          <a:prstGeom prst="rect">
            <a:avLst/>
          </a:prstGeom>
          <a:noFill/>
        </p:spPr>
        <p:txBody>
          <a:bodyPr wrap="square" rtlCol="0">
            <a:spAutoFit/>
          </a:bodyPr>
          <a:lstStyle/>
          <a:p>
            <a:r>
              <a:rPr lang="en-GB" sz="1800">
                <a:solidFill>
                  <a:schemeClr val="tx1">
                    <a:lumMod val="65000"/>
                    <a:lumOff val="35000"/>
                  </a:schemeClr>
                </a:solidFill>
                <a:latin typeface="Poppins" panose="020B0604020202020204" charset="0"/>
                <a:cs typeface="Poppins" panose="020B0604020202020204" charset="0"/>
              </a:rPr>
              <a:t>Tim penjualan sering kali kurang memahami kinerja regional yang jelas dan berbasis data, sehingga sulit untuk mengidentifikasi peluang pertumbuhan dan mengoptimalkan sumber daya. Proyek ini bertujuan untuk menganalisis dan memvisualisasikan data penjualan regional guna menemukan tren, mengevaluasi profitabilitas, dan mendukung pengambilan keputusan strategis.</a:t>
            </a:r>
            <a:endParaRPr lang="en-IN" sz="1800" dirty="0">
              <a:solidFill>
                <a:schemeClr val="tx1">
                  <a:lumMod val="65000"/>
                  <a:lumOff val="35000"/>
                </a:schemeClr>
              </a:solidFill>
              <a:latin typeface="Poppins" panose="020B0604020202020204" charset="0"/>
              <a:cs typeface="Poppins" panose="020B0604020202020204" charset="0"/>
            </a:endParaRPr>
          </a:p>
        </p:txBody>
      </p:sp>
      <p:sp>
        <p:nvSpPr>
          <p:cNvPr id="15" name="Google Shape;147;p2">
            <a:extLst>
              <a:ext uri="{FF2B5EF4-FFF2-40B4-BE49-F238E27FC236}">
                <a16:creationId xmlns:a16="http://schemas.microsoft.com/office/drawing/2014/main" id="{2BCC2704-FC24-43ED-A750-E2F92EF60F12}"/>
              </a:ext>
            </a:extLst>
          </p:cNvPr>
          <p:cNvSpPr txBox="1">
            <a:spLocks/>
          </p:cNvSpPr>
          <p:nvPr/>
        </p:nvSpPr>
        <p:spPr>
          <a:xfrm>
            <a:off x="463044" y="421813"/>
            <a:ext cx="4834170"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a:solidFill>
                  <a:schemeClr val="tx1">
                    <a:lumMod val="75000"/>
                    <a:lumOff val="25000"/>
                  </a:schemeClr>
                </a:solidFill>
              </a:rPr>
              <a:t>Pernyataan Masalah</a:t>
            </a:r>
            <a:endParaRPr lang="en-US" sz="32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3200" b="1">
                <a:solidFill>
                  <a:srgbClr val="FFFFFF"/>
                </a:solidFill>
                <a:latin typeface="Poppins"/>
                <a:ea typeface="Poppins"/>
                <a:cs typeface="Poppins"/>
                <a:sym typeface="Poppins"/>
              </a:rPr>
              <a:t>Pendekatan</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9860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EF786390-49C8-49E0-B426-C5157FAF1300}"/>
              </a:ext>
            </a:extLst>
          </p:cNvPr>
          <p:cNvSpPr/>
          <p:nvPr/>
        </p:nvSpPr>
        <p:spPr>
          <a:xfrm>
            <a:off x="817123"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1">
                    <a:lumMod val="65000"/>
                    <a:lumOff val="35000"/>
                  </a:schemeClr>
                </a:solidFill>
                <a:latin typeface="Poppins" panose="020B0604020202020204" charset="0"/>
                <a:cs typeface="Poppins" panose="020B0604020202020204" charset="0"/>
              </a:rPr>
              <a:t>Analisis Data Eksploratif</a:t>
            </a:r>
            <a:endParaRPr lang="en-IN" sz="2000" b="1" dirty="0">
              <a:solidFill>
                <a:schemeClr val="tx1">
                  <a:lumMod val="65000"/>
                  <a:lumOff val="35000"/>
                </a:schemeClr>
              </a:solidFill>
              <a:latin typeface="Poppins" panose="020B0604020202020204" charset="0"/>
              <a:cs typeface="Poppins" panose="020B0604020202020204" charset="0"/>
            </a:endParaRPr>
          </a:p>
        </p:txBody>
      </p:sp>
      <p:sp>
        <p:nvSpPr>
          <p:cNvPr id="3" name="Oval 2">
            <a:extLst>
              <a:ext uri="{FF2B5EF4-FFF2-40B4-BE49-F238E27FC236}">
                <a16:creationId xmlns:a16="http://schemas.microsoft.com/office/drawing/2014/main" id="{061337D1-284D-48C4-8361-208DB620B30E}"/>
              </a:ext>
            </a:extLst>
          </p:cNvPr>
          <p:cNvSpPr/>
          <p:nvPr/>
        </p:nvSpPr>
        <p:spPr>
          <a:xfrm>
            <a:off x="982494"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1</a:t>
            </a:r>
          </a:p>
        </p:txBody>
      </p:sp>
      <p:sp>
        <p:nvSpPr>
          <p:cNvPr id="16" name="Rectangle: Rounded Corners 15">
            <a:extLst>
              <a:ext uri="{FF2B5EF4-FFF2-40B4-BE49-F238E27FC236}">
                <a16:creationId xmlns:a16="http://schemas.microsoft.com/office/drawing/2014/main" id="{032B42CF-2183-4765-8239-53586F24A1FA}"/>
              </a:ext>
            </a:extLst>
          </p:cNvPr>
          <p:cNvSpPr/>
          <p:nvPr/>
        </p:nvSpPr>
        <p:spPr>
          <a:xfrm>
            <a:off x="6919609"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1">
                    <a:lumMod val="65000"/>
                    <a:lumOff val="35000"/>
                  </a:schemeClr>
                </a:solidFill>
                <a:latin typeface="Poppins" panose="020B0604020202020204" charset="0"/>
                <a:cs typeface="Poppins" panose="020B0604020202020204" charset="0"/>
              </a:rPr>
              <a:t>Dasbor Interaktif</a:t>
            </a:r>
            <a:endParaRPr lang="en-IN" sz="2000" b="1" dirty="0">
              <a:solidFill>
                <a:schemeClr val="tx1">
                  <a:lumMod val="65000"/>
                  <a:lumOff val="35000"/>
                </a:schemeClr>
              </a:solidFill>
              <a:latin typeface="Poppins" panose="020B0604020202020204" charset="0"/>
              <a:cs typeface="Poppins" panose="020B0604020202020204" charset="0"/>
            </a:endParaRPr>
          </a:p>
        </p:txBody>
      </p:sp>
      <p:sp>
        <p:nvSpPr>
          <p:cNvPr id="17" name="Oval 16">
            <a:extLst>
              <a:ext uri="{FF2B5EF4-FFF2-40B4-BE49-F238E27FC236}">
                <a16:creationId xmlns:a16="http://schemas.microsoft.com/office/drawing/2014/main" id="{573F0CD4-A48D-4AF0-AC81-7C2EDD09BE8E}"/>
              </a:ext>
            </a:extLst>
          </p:cNvPr>
          <p:cNvSpPr/>
          <p:nvPr/>
        </p:nvSpPr>
        <p:spPr>
          <a:xfrm>
            <a:off x="7084980"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2</a:t>
            </a:r>
          </a:p>
        </p:txBody>
      </p:sp>
      <p:pic>
        <p:nvPicPr>
          <p:cNvPr id="6" name="Picture 5">
            <a:extLst>
              <a:ext uri="{FF2B5EF4-FFF2-40B4-BE49-F238E27FC236}">
                <a16:creationId xmlns:a16="http://schemas.microsoft.com/office/drawing/2014/main" id="{D2DC62CA-5400-4726-99B5-FBA6F814D20E}"/>
              </a:ext>
            </a:extLst>
          </p:cNvPr>
          <p:cNvPicPr>
            <a:picLocks noChangeAspect="1"/>
          </p:cNvPicPr>
          <p:nvPr/>
        </p:nvPicPr>
        <p:blipFill>
          <a:blip r:embed="rId4"/>
          <a:srcRect/>
          <a:stretch/>
        </p:blipFill>
        <p:spPr>
          <a:xfrm>
            <a:off x="5597105" y="2217906"/>
            <a:ext cx="826546" cy="826546"/>
          </a:xfrm>
          <a:prstGeom prst="rect">
            <a:avLst/>
          </a:prstGeom>
        </p:spPr>
      </p:pic>
      <p:sp>
        <p:nvSpPr>
          <p:cNvPr id="7" name="Arrow: Down 6">
            <a:extLst>
              <a:ext uri="{FF2B5EF4-FFF2-40B4-BE49-F238E27FC236}">
                <a16:creationId xmlns:a16="http://schemas.microsoft.com/office/drawing/2014/main" id="{B04D62CA-0D74-423A-8B8E-1D0931ACDA1B}"/>
              </a:ext>
            </a:extLst>
          </p:cNvPr>
          <p:cNvSpPr/>
          <p:nvPr/>
        </p:nvSpPr>
        <p:spPr>
          <a:xfrm>
            <a:off x="2587557"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1C2E06F-C69F-4CC8-81D6-46C8AE055B33}"/>
              </a:ext>
            </a:extLst>
          </p:cNvPr>
          <p:cNvSpPr/>
          <p:nvPr/>
        </p:nvSpPr>
        <p:spPr>
          <a:xfrm>
            <a:off x="8860278"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767FD30-A16F-4190-90E2-E5D864B23DCA}"/>
              </a:ext>
            </a:extLst>
          </p:cNvPr>
          <p:cNvSpPr txBox="1"/>
          <p:nvPr/>
        </p:nvSpPr>
        <p:spPr>
          <a:xfrm>
            <a:off x="1527243" y="5077838"/>
            <a:ext cx="3745148" cy="584775"/>
          </a:xfrm>
          <a:prstGeom prst="rect">
            <a:avLst/>
          </a:prstGeom>
          <a:noFill/>
        </p:spPr>
        <p:txBody>
          <a:bodyPr wrap="square" rtlCol="0">
            <a:spAutoFit/>
          </a:bodyPr>
          <a:lstStyle/>
          <a:p>
            <a:r>
              <a:rPr lang="en-GB" sz="1600">
                <a:solidFill>
                  <a:schemeClr val="tx1">
                    <a:lumMod val="65000"/>
                    <a:lumOff val="35000"/>
                  </a:schemeClr>
                </a:solidFill>
                <a:latin typeface="Poppins" panose="020B0604020202020204" charset="0"/>
                <a:cs typeface="Poppins" panose="020B0604020202020204" charset="0"/>
              </a:rPr>
              <a:t>Selami sejarah penjualan, margin, produk, saluran, wilayah</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22" name="TextBox 21">
            <a:extLst>
              <a:ext uri="{FF2B5EF4-FFF2-40B4-BE49-F238E27FC236}">
                <a16:creationId xmlns:a16="http://schemas.microsoft.com/office/drawing/2014/main" id="{757D9954-2268-4CDE-BEC9-BD6EB7D4C508}"/>
              </a:ext>
            </a:extLst>
          </p:cNvPr>
          <p:cNvSpPr txBox="1"/>
          <p:nvPr/>
        </p:nvSpPr>
        <p:spPr>
          <a:xfrm>
            <a:off x="7217922" y="5077838"/>
            <a:ext cx="5110712" cy="830997"/>
          </a:xfrm>
          <a:prstGeom prst="rect">
            <a:avLst/>
          </a:prstGeom>
          <a:noFill/>
        </p:spPr>
        <p:txBody>
          <a:bodyPr wrap="square" rtlCol="0">
            <a:spAutoFit/>
          </a:bodyPr>
          <a:lstStyle/>
          <a:p>
            <a:r>
              <a:rPr lang="en-IN" sz="1600">
                <a:solidFill>
                  <a:schemeClr val="tx1">
                    <a:lumMod val="65000"/>
                    <a:lumOff val="35000"/>
                  </a:schemeClr>
                </a:solidFill>
                <a:latin typeface="Poppins" panose="020B0604020202020204" charset="0"/>
                <a:cs typeface="Poppins" panose="020B0604020202020204" charset="0"/>
              </a:rPr>
              <a:t>Bangun tampilan langsung untuk Pengguna bisnis untuk mandiriTren permukaan, outlier &amp; hubungane insights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23" name="TextBox 22">
            <a:extLst>
              <a:ext uri="{FF2B5EF4-FFF2-40B4-BE49-F238E27FC236}">
                <a16:creationId xmlns:a16="http://schemas.microsoft.com/office/drawing/2014/main" id="{75B3FF80-C907-4C20-93BB-629AEE984E90}"/>
              </a:ext>
            </a:extLst>
          </p:cNvPr>
          <p:cNvSpPr txBox="1"/>
          <p:nvPr/>
        </p:nvSpPr>
        <p:spPr>
          <a:xfrm>
            <a:off x="7217923" y="5790674"/>
            <a:ext cx="3745148" cy="830997"/>
          </a:xfrm>
          <a:prstGeom prst="rect">
            <a:avLst/>
          </a:prstGeom>
          <a:noFill/>
        </p:spPr>
        <p:txBody>
          <a:bodyPr wrap="square" rtlCol="0">
            <a:spAutoFit/>
          </a:bodyPr>
          <a:lstStyle/>
          <a:p>
            <a:r>
              <a:rPr lang="en-IN" sz="1600">
                <a:solidFill>
                  <a:schemeClr val="tx1">
                    <a:lumMod val="65000"/>
                    <a:lumOff val="35000"/>
                  </a:schemeClr>
                </a:solidFill>
                <a:latin typeface="Poppins" panose="020B0604020202020204" charset="0"/>
                <a:cs typeface="Poppins" panose="020B0604020202020204" charset="0"/>
              </a:rPr>
              <a:t>Aktifkan pemotongan ad-hoc berdasarkan waktu, produk, wilayah, saluran</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0" name="TextBox 29">
            <a:extLst>
              <a:ext uri="{FF2B5EF4-FFF2-40B4-BE49-F238E27FC236}">
                <a16:creationId xmlns:a16="http://schemas.microsoft.com/office/drawing/2014/main" id="{F5524C7F-A5F0-4504-9D64-B4D4EEE5B159}"/>
              </a:ext>
            </a:extLst>
          </p:cNvPr>
          <p:cNvSpPr txBox="1"/>
          <p:nvPr/>
        </p:nvSpPr>
        <p:spPr>
          <a:xfrm>
            <a:off x="1527243" y="5790674"/>
            <a:ext cx="3745148" cy="584775"/>
          </a:xfrm>
          <a:prstGeom prst="rect">
            <a:avLst/>
          </a:prstGeom>
          <a:noFill/>
        </p:spPr>
        <p:txBody>
          <a:bodyPr wrap="square" rtlCol="0">
            <a:spAutoFit/>
          </a:bodyPr>
          <a:lstStyle/>
          <a:p>
            <a:r>
              <a:rPr lang="en-GB" sz="1600">
                <a:solidFill>
                  <a:schemeClr val="tx1">
                    <a:lumMod val="65000"/>
                    <a:lumOff val="35000"/>
                  </a:schemeClr>
                </a:solidFill>
                <a:latin typeface="Poppins" panose="020B0604020202020204" charset="0"/>
                <a:cs typeface="Poppins" panose="020B0604020202020204" charset="0"/>
              </a:rPr>
              <a:t>Tren permukaan, outlier &amp; hubungan</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1" name="Oval 30">
            <a:extLst>
              <a:ext uri="{FF2B5EF4-FFF2-40B4-BE49-F238E27FC236}">
                <a16:creationId xmlns:a16="http://schemas.microsoft.com/office/drawing/2014/main" id="{2CFBD04C-D308-49D3-A942-AE5485CA5565}"/>
              </a:ext>
            </a:extLst>
          </p:cNvPr>
          <p:cNvSpPr/>
          <p:nvPr/>
        </p:nvSpPr>
        <p:spPr>
          <a:xfrm>
            <a:off x="1313234" y="5185820"/>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1CED950A-B354-4091-B9D5-11788B58C8A9}"/>
              </a:ext>
            </a:extLst>
          </p:cNvPr>
          <p:cNvSpPr/>
          <p:nvPr/>
        </p:nvSpPr>
        <p:spPr>
          <a:xfrm>
            <a:off x="1313234" y="5873242"/>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5B87BB1-CDC3-4813-831F-CEF786CD3A56}"/>
              </a:ext>
            </a:extLst>
          </p:cNvPr>
          <p:cNvSpPr/>
          <p:nvPr/>
        </p:nvSpPr>
        <p:spPr>
          <a:xfrm>
            <a:off x="7004880" y="5185819"/>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744AD04-BDD3-4E9F-9B41-BC3CAFE7F84B}"/>
              </a:ext>
            </a:extLst>
          </p:cNvPr>
          <p:cNvSpPr/>
          <p:nvPr/>
        </p:nvSpPr>
        <p:spPr>
          <a:xfrm>
            <a:off x="7004880" y="5873241"/>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47;p2">
            <a:extLst>
              <a:ext uri="{FF2B5EF4-FFF2-40B4-BE49-F238E27FC236}">
                <a16:creationId xmlns:a16="http://schemas.microsoft.com/office/drawing/2014/main" id="{E2C9632B-DA41-4294-8BC1-3C70617AD806}"/>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a:solidFill>
                  <a:schemeClr val="tx1">
                    <a:lumMod val="75000"/>
                    <a:lumOff val="25000"/>
                  </a:schemeClr>
                </a:solidFill>
              </a:rPr>
              <a:t>Pendekatan – Solusi dua fase</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5936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3200" b="1">
                <a:solidFill>
                  <a:srgbClr val="FFFFFF"/>
                </a:solidFill>
                <a:latin typeface="Poppins"/>
                <a:ea typeface="Poppins"/>
                <a:cs typeface="Poppins"/>
                <a:sym typeface="Poppins"/>
              </a:rPr>
              <a:t>Alur Kerja Proyek</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498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F224B0A-B7DA-4658-84D8-77EAAAA36721}"/>
              </a:ext>
            </a:extLst>
          </p:cNvPr>
          <p:cNvGrpSpPr/>
          <p:nvPr/>
        </p:nvGrpSpPr>
        <p:grpSpPr>
          <a:xfrm>
            <a:off x="722279" y="1736386"/>
            <a:ext cx="515566" cy="496110"/>
            <a:chOff x="1342417" y="1955260"/>
            <a:chExt cx="603115" cy="584775"/>
          </a:xfrm>
        </p:grpSpPr>
        <p:sp>
          <p:nvSpPr>
            <p:cNvPr id="3" name="Oval 2">
              <a:extLst>
                <a:ext uri="{FF2B5EF4-FFF2-40B4-BE49-F238E27FC236}">
                  <a16:creationId xmlns:a16="http://schemas.microsoft.com/office/drawing/2014/main"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Oval 9">
              <a:extLst>
                <a:ext uri="{FF2B5EF4-FFF2-40B4-BE49-F238E27FC236}">
                  <a16:creationId xmlns:a16="http://schemas.microsoft.com/office/drawing/2014/main"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21" name="Group 20">
            <a:extLst>
              <a:ext uri="{FF2B5EF4-FFF2-40B4-BE49-F238E27FC236}">
                <a16:creationId xmlns:a16="http://schemas.microsoft.com/office/drawing/2014/main" id="{D5E95E7B-E630-4DFF-9DBE-EE55E40FEADD}"/>
              </a:ext>
            </a:extLst>
          </p:cNvPr>
          <p:cNvGrpSpPr/>
          <p:nvPr/>
        </p:nvGrpSpPr>
        <p:grpSpPr>
          <a:xfrm>
            <a:off x="1381328" y="1434217"/>
            <a:ext cx="3988340" cy="1172796"/>
            <a:chOff x="1381328" y="1434217"/>
            <a:chExt cx="3988340" cy="1172796"/>
          </a:xfrm>
        </p:grpSpPr>
        <p:grpSp>
          <p:nvGrpSpPr>
            <p:cNvPr id="20" name="Group 19">
              <a:extLst>
                <a:ext uri="{FF2B5EF4-FFF2-40B4-BE49-F238E27FC236}">
                  <a16:creationId xmlns:a16="http://schemas.microsoft.com/office/drawing/2014/main" id="{BF6D0B17-11C6-4912-A377-9ACA0AA9214F}"/>
                </a:ext>
              </a:extLst>
            </p:cNvPr>
            <p:cNvGrpSpPr/>
            <p:nvPr/>
          </p:nvGrpSpPr>
          <p:grpSpPr>
            <a:xfrm>
              <a:off x="1381328" y="1434217"/>
              <a:ext cx="3988340" cy="1172796"/>
              <a:chOff x="1381328" y="1434217"/>
              <a:chExt cx="3988340" cy="1172796"/>
            </a:xfrm>
          </p:grpSpPr>
          <p:grpSp>
            <p:nvGrpSpPr>
              <p:cNvPr id="19" name="Group 18">
                <a:extLst>
                  <a:ext uri="{FF2B5EF4-FFF2-40B4-BE49-F238E27FC236}">
                    <a16:creationId xmlns:a16="http://schemas.microsoft.com/office/drawing/2014/main" id="{280696E0-F33F-4F8F-BEF9-47CE369EC2B4}"/>
                  </a:ext>
                </a:extLst>
              </p:cNvPr>
              <p:cNvGrpSpPr/>
              <p:nvPr/>
            </p:nvGrpSpPr>
            <p:grpSpPr>
              <a:xfrm>
                <a:off x="1381328" y="1434829"/>
                <a:ext cx="3988340" cy="1172184"/>
                <a:chOff x="1381328" y="1434829"/>
                <a:chExt cx="3988340" cy="1172184"/>
              </a:xfrm>
            </p:grpSpPr>
            <p:sp>
              <p:nvSpPr>
                <p:cNvPr id="7" name="Rectangle: Rounded Corners 6">
                  <a:extLst>
                    <a:ext uri="{FF2B5EF4-FFF2-40B4-BE49-F238E27FC236}">
                      <a16:creationId xmlns:a16="http://schemas.microsoft.com/office/drawing/2014/main"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8" name="Rectangle: Rounded Corners 7">
                  <a:extLst>
                    <a:ext uri="{FF2B5EF4-FFF2-40B4-BE49-F238E27FC236}">
                      <a16:creationId xmlns:a16="http://schemas.microsoft.com/office/drawing/2014/main"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id="{03EC3956-454F-47F7-9AA5-29BE27635D16}"/>
                  </a:ext>
                </a:extLst>
              </p:cNvPr>
              <p:cNvSpPr txBox="1"/>
              <p:nvPr/>
            </p:nvSpPr>
            <p:spPr>
              <a:xfrm>
                <a:off x="1976717" y="1434217"/>
                <a:ext cx="2896947" cy="338554"/>
              </a:xfrm>
              <a:prstGeom prst="rect">
                <a:avLst/>
              </a:prstGeom>
              <a:noFill/>
            </p:spPr>
            <p:txBody>
              <a:bodyPr wrap="none" rtlCol="0">
                <a:spAutoFit/>
              </a:bodyPr>
              <a:lstStyle/>
              <a:p>
                <a:r>
                  <a:rPr lang="en-IN" sz="1600" b="1">
                    <a:solidFill>
                      <a:schemeClr val="bg1">
                        <a:lumMod val="95000"/>
                      </a:schemeClr>
                    </a:solidFill>
                    <a:latin typeface="Poppins" panose="020B0604020202020204" charset="0"/>
                    <a:cs typeface="Poppins" panose="020B0604020202020204" charset="0"/>
                  </a:rPr>
                  <a:t>Definisikan Tujuan Bisnis</a:t>
                </a:r>
                <a:endParaRPr lang="en-IN" sz="1600" b="1" dirty="0">
                  <a:solidFill>
                    <a:schemeClr val="bg1">
                      <a:lumMod val="95000"/>
                    </a:schemeClr>
                  </a:solidFill>
                  <a:latin typeface="Poppins" panose="020B0604020202020204" charset="0"/>
                  <a:cs typeface="Poppins" panose="020B0604020202020204" charset="0"/>
                </a:endParaRPr>
              </a:p>
            </p:txBody>
          </p:sp>
        </p:grpSp>
        <p:sp>
          <p:nvSpPr>
            <p:cNvPr id="11" name="TextBox 10">
              <a:extLst>
                <a:ext uri="{FF2B5EF4-FFF2-40B4-BE49-F238E27FC236}">
                  <a16:creationId xmlns:a16="http://schemas.microsoft.com/office/drawing/2014/main" id="{F6CA487F-1F18-4418-AFDB-70EDFA869D6E}"/>
                </a:ext>
              </a:extLst>
            </p:cNvPr>
            <p:cNvSpPr txBox="1"/>
            <p:nvPr/>
          </p:nvSpPr>
          <p:spPr>
            <a:xfrm>
              <a:off x="1710446" y="1920858"/>
              <a:ext cx="3561945" cy="523220"/>
            </a:xfrm>
            <a:prstGeom prst="rect">
              <a:avLst/>
            </a:prstGeom>
            <a:noFill/>
          </p:spPr>
          <p:txBody>
            <a:bodyPr wrap="square" rtlCol="0">
              <a:spAutoFit/>
            </a:bodyPr>
            <a:lstStyle/>
            <a:p>
              <a:r>
                <a:rPr lang="en-GB">
                  <a:solidFill>
                    <a:schemeClr val="tx1">
                      <a:lumMod val="75000"/>
                      <a:lumOff val="25000"/>
                    </a:schemeClr>
                  </a:solidFill>
                  <a:latin typeface="Poppins" panose="020B0604020202020204" charset="0"/>
                  <a:cs typeface="Poppins" panose="020B0604020202020204" charset="0"/>
                </a:rPr>
                <a:t>Pahami masalah inti dan hasil bisnis yang diharapkan.</a:t>
              </a:r>
              <a:endParaRPr lang="en-IN" dirty="0">
                <a:solidFill>
                  <a:schemeClr val="tx1">
                    <a:lumMod val="75000"/>
                    <a:lumOff val="25000"/>
                  </a:schemeClr>
                </a:solidFill>
                <a:latin typeface="Poppins" panose="020B0604020202020204" charset="0"/>
                <a:cs typeface="Poppins" panose="020B0604020202020204" charset="0"/>
              </a:endParaRPr>
            </a:p>
          </p:txBody>
        </p:sp>
      </p:grpSp>
      <p:grpSp>
        <p:nvGrpSpPr>
          <p:cNvPr id="22" name="Group 21">
            <a:extLst>
              <a:ext uri="{FF2B5EF4-FFF2-40B4-BE49-F238E27FC236}">
                <a16:creationId xmlns:a16="http://schemas.microsoft.com/office/drawing/2014/main" id="{19D0BBFF-8B46-41EA-9432-D45859685DF7}"/>
              </a:ext>
            </a:extLst>
          </p:cNvPr>
          <p:cNvGrpSpPr/>
          <p:nvPr/>
        </p:nvGrpSpPr>
        <p:grpSpPr>
          <a:xfrm>
            <a:off x="6919610" y="1418828"/>
            <a:ext cx="4685728" cy="1213206"/>
            <a:chOff x="6919610" y="1418828"/>
            <a:chExt cx="4685728" cy="1213206"/>
          </a:xfrm>
        </p:grpSpPr>
        <p:grpSp>
          <p:nvGrpSpPr>
            <p:cNvPr id="13" name="Group 12">
              <a:extLst>
                <a:ext uri="{FF2B5EF4-FFF2-40B4-BE49-F238E27FC236}">
                  <a16:creationId xmlns:a16="http://schemas.microsoft.com/office/drawing/2014/main" id="{11B7D166-4071-4D7E-9D73-F0FA24768FD5}"/>
                </a:ext>
              </a:extLst>
            </p:cNvPr>
            <p:cNvGrpSpPr/>
            <p:nvPr/>
          </p:nvGrpSpPr>
          <p:grpSpPr>
            <a:xfrm>
              <a:off x="6919610" y="1736386"/>
              <a:ext cx="515566" cy="496110"/>
              <a:chOff x="1342417" y="1955260"/>
              <a:chExt cx="603115" cy="584775"/>
            </a:xfrm>
          </p:grpSpPr>
          <p:sp>
            <p:nvSpPr>
              <p:cNvPr id="15" name="Oval 14">
                <a:extLst>
                  <a:ext uri="{FF2B5EF4-FFF2-40B4-BE49-F238E27FC236}">
                    <a16:creationId xmlns:a16="http://schemas.microsoft.com/office/drawing/2014/main" id="{73248B29-E84C-4432-8E22-0CEEA1986F73}"/>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6" name="Oval 15">
                <a:extLst>
                  <a:ext uri="{FF2B5EF4-FFF2-40B4-BE49-F238E27FC236}">
                    <a16:creationId xmlns:a16="http://schemas.microsoft.com/office/drawing/2014/main" id="{C927EDD5-A3A6-4179-B14F-5B8ABC9EF74F}"/>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25" name="Group 24">
              <a:extLst>
                <a:ext uri="{FF2B5EF4-FFF2-40B4-BE49-F238E27FC236}">
                  <a16:creationId xmlns:a16="http://schemas.microsoft.com/office/drawing/2014/main" id="{B8169776-30B8-4FBC-A478-8FFCF84A0AD9}"/>
                </a:ext>
              </a:extLst>
            </p:cNvPr>
            <p:cNvGrpSpPr/>
            <p:nvPr/>
          </p:nvGrpSpPr>
          <p:grpSpPr>
            <a:xfrm>
              <a:off x="7585136" y="1418828"/>
              <a:ext cx="4020202" cy="1213206"/>
              <a:chOff x="1381328" y="1418522"/>
              <a:chExt cx="4020202" cy="1213206"/>
            </a:xfrm>
          </p:grpSpPr>
          <p:grpSp>
            <p:nvGrpSpPr>
              <p:cNvPr id="26" name="Group 25">
                <a:extLst>
                  <a:ext uri="{FF2B5EF4-FFF2-40B4-BE49-F238E27FC236}">
                    <a16:creationId xmlns:a16="http://schemas.microsoft.com/office/drawing/2014/main" id="{2FBEE5F3-B4C3-4A4E-ADB4-1262739AED23}"/>
                  </a:ext>
                </a:extLst>
              </p:cNvPr>
              <p:cNvGrpSpPr/>
              <p:nvPr/>
            </p:nvGrpSpPr>
            <p:grpSpPr>
              <a:xfrm>
                <a:off x="1381328" y="1418522"/>
                <a:ext cx="4020202" cy="1188491"/>
                <a:chOff x="1381328" y="1418522"/>
                <a:chExt cx="4020202" cy="1188491"/>
              </a:xfrm>
            </p:grpSpPr>
            <p:grpSp>
              <p:nvGrpSpPr>
                <p:cNvPr id="28" name="Group 27">
                  <a:extLst>
                    <a:ext uri="{FF2B5EF4-FFF2-40B4-BE49-F238E27FC236}">
                      <a16:creationId xmlns:a16="http://schemas.microsoft.com/office/drawing/2014/main" id="{44EDF781-E63E-4928-AA7B-47091E998F42}"/>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id="{D624CC8E-349B-4D52-84ED-47A6DB06B343}"/>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id="{65C49F8A-6986-4B0F-8668-4B436C8AF79E}"/>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id="{8F9BDF65-E819-465C-A638-470B5BBB1ADF}"/>
                    </a:ext>
                  </a:extLst>
                </p:cNvPr>
                <p:cNvSpPr txBox="1"/>
                <p:nvPr/>
              </p:nvSpPr>
              <p:spPr>
                <a:xfrm>
                  <a:off x="1534766" y="1418522"/>
                  <a:ext cx="3866764"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a:t>Kumpulkan &amp; Konsolidasikan Data</a:t>
                  </a:r>
                  <a:endParaRPr lang="en-IN" dirty="0"/>
                </a:p>
              </p:txBody>
            </p:sp>
          </p:grpSp>
          <p:sp>
            <p:nvSpPr>
              <p:cNvPr id="27" name="TextBox 26">
                <a:extLst>
                  <a:ext uri="{FF2B5EF4-FFF2-40B4-BE49-F238E27FC236}">
                    <a16:creationId xmlns:a16="http://schemas.microsoft.com/office/drawing/2014/main" id="{43B06949-40E7-46B3-A568-01AB147E024F}"/>
                  </a:ext>
                </a:extLst>
              </p:cNvPr>
              <p:cNvSpPr txBox="1"/>
              <p:nvPr/>
            </p:nvSpPr>
            <p:spPr>
              <a:xfrm>
                <a:off x="1562185" y="1893064"/>
                <a:ext cx="3703728" cy="738664"/>
              </a:xfrm>
              <a:prstGeom prst="rect">
                <a:avLst/>
              </a:prstGeom>
              <a:noFill/>
            </p:spPr>
            <p:txBody>
              <a:bodyPr wrap="square" rtlCol="0">
                <a:spAutoFit/>
              </a:bodyPr>
              <a:lstStyle/>
              <a:p>
                <a:r>
                  <a:rPr lang="en-GB">
                    <a:solidFill>
                      <a:schemeClr val="tx1">
                        <a:lumMod val="75000"/>
                        <a:lumOff val="25000"/>
                      </a:schemeClr>
                    </a:solidFill>
                    <a:latin typeface="Poppins" panose="020B0604020202020204" charset="0"/>
                    <a:cs typeface="Poppins" panose="020B0604020202020204" charset="0"/>
                  </a:rPr>
                  <a:t>Kumpulkan data penjualan multi-sumber (lembar Excel) dan pahami skema.</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33" name="Group 32">
            <a:extLst>
              <a:ext uri="{FF2B5EF4-FFF2-40B4-BE49-F238E27FC236}">
                <a16:creationId xmlns:a16="http://schemas.microsoft.com/office/drawing/2014/main" id="{25B761F6-5DB9-4DA5-B1D9-D59F4B34BD41}"/>
              </a:ext>
            </a:extLst>
          </p:cNvPr>
          <p:cNvGrpSpPr/>
          <p:nvPr/>
        </p:nvGrpSpPr>
        <p:grpSpPr>
          <a:xfrm>
            <a:off x="738779" y="3453971"/>
            <a:ext cx="4653866" cy="1197511"/>
            <a:chOff x="6919610" y="1434523"/>
            <a:chExt cx="4653866" cy="1197511"/>
          </a:xfrm>
        </p:grpSpPr>
        <p:grpSp>
          <p:nvGrpSpPr>
            <p:cNvPr id="34" name="Group 33">
              <a:extLst>
                <a:ext uri="{FF2B5EF4-FFF2-40B4-BE49-F238E27FC236}">
                  <a16:creationId xmlns:a16="http://schemas.microsoft.com/office/drawing/2014/main" id="{3BA967EC-2FC1-44F9-9F90-8FDD90E5A008}"/>
                </a:ext>
              </a:extLst>
            </p:cNvPr>
            <p:cNvGrpSpPr/>
            <p:nvPr/>
          </p:nvGrpSpPr>
          <p:grpSpPr>
            <a:xfrm>
              <a:off x="6919610" y="1736386"/>
              <a:ext cx="515566" cy="496110"/>
              <a:chOff x="1342417" y="1955260"/>
              <a:chExt cx="603115" cy="584775"/>
            </a:xfrm>
          </p:grpSpPr>
          <p:sp>
            <p:nvSpPr>
              <p:cNvPr id="42" name="Oval 41">
                <a:extLst>
                  <a:ext uri="{FF2B5EF4-FFF2-40B4-BE49-F238E27FC236}">
                    <a16:creationId xmlns:a16="http://schemas.microsoft.com/office/drawing/2014/main" id="{94208AF3-0F2C-427A-9E3D-9CB47C8B723E}"/>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3" name="Oval 42">
                <a:extLst>
                  <a:ext uri="{FF2B5EF4-FFF2-40B4-BE49-F238E27FC236}">
                    <a16:creationId xmlns:a16="http://schemas.microsoft.com/office/drawing/2014/main" id="{1544FD55-C41E-4C29-9371-25EB5C45A0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35" name="Group 34">
              <a:extLst>
                <a:ext uri="{FF2B5EF4-FFF2-40B4-BE49-F238E27FC236}">
                  <a16:creationId xmlns:a16="http://schemas.microsoft.com/office/drawing/2014/main" id="{68F693FF-20BC-41C0-9714-BB2E7B1181C4}"/>
                </a:ext>
              </a:extLst>
            </p:cNvPr>
            <p:cNvGrpSpPr/>
            <p:nvPr/>
          </p:nvGrpSpPr>
          <p:grpSpPr>
            <a:xfrm>
              <a:off x="7585136" y="1434523"/>
              <a:ext cx="3988340" cy="1197511"/>
              <a:chOff x="1381328" y="1434217"/>
              <a:chExt cx="3988340" cy="1197511"/>
            </a:xfrm>
          </p:grpSpPr>
          <p:grpSp>
            <p:nvGrpSpPr>
              <p:cNvPr id="36" name="Group 35">
                <a:extLst>
                  <a:ext uri="{FF2B5EF4-FFF2-40B4-BE49-F238E27FC236}">
                    <a16:creationId xmlns:a16="http://schemas.microsoft.com/office/drawing/2014/main" id="{61B76429-847A-4A58-A656-B30BD733F7AB}"/>
                  </a:ext>
                </a:extLst>
              </p:cNvPr>
              <p:cNvGrpSpPr/>
              <p:nvPr/>
            </p:nvGrpSpPr>
            <p:grpSpPr>
              <a:xfrm>
                <a:off x="1381328" y="1434217"/>
                <a:ext cx="3988340" cy="1172796"/>
                <a:chOff x="1381328" y="1434217"/>
                <a:chExt cx="3988340" cy="1172796"/>
              </a:xfrm>
            </p:grpSpPr>
            <p:grpSp>
              <p:nvGrpSpPr>
                <p:cNvPr id="38" name="Group 37">
                  <a:extLst>
                    <a:ext uri="{FF2B5EF4-FFF2-40B4-BE49-F238E27FC236}">
                      <a16:creationId xmlns:a16="http://schemas.microsoft.com/office/drawing/2014/main" id="{35AB8DCD-1B22-4331-AB93-F0D09D45070B}"/>
                    </a:ext>
                  </a:extLst>
                </p:cNvPr>
                <p:cNvGrpSpPr/>
                <p:nvPr/>
              </p:nvGrpSpPr>
              <p:grpSpPr>
                <a:xfrm>
                  <a:off x="1381328" y="1434829"/>
                  <a:ext cx="3988340" cy="1172184"/>
                  <a:chOff x="1381328" y="1434829"/>
                  <a:chExt cx="3988340" cy="1172184"/>
                </a:xfrm>
              </p:grpSpPr>
              <p:sp>
                <p:nvSpPr>
                  <p:cNvPr id="40" name="Rectangle: Rounded Corners 39">
                    <a:extLst>
                      <a:ext uri="{FF2B5EF4-FFF2-40B4-BE49-F238E27FC236}">
                        <a16:creationId xmlns:a16="http://schemas.microsoft.com/office/drawing/2014/main" id="{9E8E0687-529A-457D-8CB6-34EF919B1591}"/>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41" name="Rectangle: Rounded Corners 40">
                    <a:extLst>
                      <a:ext uri="{FF2B5EF4-FFF2-40B4-BE49-F238E27FC236}">
                        <a16:creationId xmlns:a16="http://schemas.microsoft.com/office/drawing/2014/main" id="{5DA7EFF5-C8D7-41DB-920A-64F34FFE441C}"/>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9" name="TextBox 38">
                  <a:extLst>
                    <a:ext uri="{FF2B5EF4-FFF2-40B4-BE49-F238E27FC236}">
                      <a16:creationId xmlns:a16="http://schemas.microsoft.com/office/drawing/2014/main" id="{58C717FF-EB58-44E4-BBF4-A6526FD5923D}"/>
                    </a:ext>
                  </a:extLst>
                </p:cNvPr>
                <p:cNvSpPr txBox="1"/>
                <p:nvPr/>
              </p:nvSpPr>
              <p:spPr>
                <a:xfrm>
                  <a:off x="1637651" y="1434217"/>
                  <a:ext cx="3661580"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a:t>Pra-pemrosesan &amp; Pembersihan</a:t>
                  </a:r>
                  <a:endParaRPr lang="en-IN" dirty="0"/>
                </a:p>
              </p:txBody>
            </p:sp>
          </p:grpSp>
          <p:sp>
            <p:nvSpPr>
              <p:cNvPr id="37" name="TextBox 36">
                <a:extLst>
                  <a:ext uri="{FF2B5EF4-FFF2-40B4-BE49-F238E27FC236}">
                    <a16:creationId xmlns:a16="http://schemas.microsoft.com/office/drawing/2014/main" id="{562B146E-F93E-4760-BE00-6323D1BFD5E3}"/>
                  </a:ext>
                </a:extLst>
              </p:cNvPr>
              <p:cNvSpPr txBox="1"/>
              <p:nvPr/>
            </p:nvSpPr>
            <p:spPr>
              <a:xfrm>
                <a:off x="1546421" y="1893064"/>
                <a:ext cx="3584922" cy="738664"/>
              </a:xfrm>
              <a:prstGeom prst="rect">
                <a:avLst/>
              </a:prstGeom>
              <a:noFill/>
            </p:spPr>
            <p:txBody>
              <a:bodyPr wrap="square" rtlCol="0">
                <a:spAutoFit/>
              </a:bodyPr>
              <a:lstStyle/>
              <a:p>
                <a:r>
                  <a:rPr lang="en-GB">
                    <a:solidFill>
                      <a:schemeClr val="tx1">
                        <a:lumMod val="75000"/>
                        <a:lumOff val="25000"/>
                      </a:schemeClr>
                    </a:solidFill>
                    <a:latin typeface="Poppins" panose="020B0604020202020204" charset="0"/>
                    <a:cs typeface="Poppins" panose="020B0604020202020204" charset="0"/>
                  </a:rPr>
                  <a:t>Tangani null, gabungkan tabel, format tanggal, dan normalisasi kolom.</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44" name="Group 43">
            <a:extLst>
              <a:ext uri="{FF2B5EF4-FFF2-40B4-BE49-F238E27FC236}">
                <a16:creationId xmlns:a16="http://schemas.microsoft.com/office/drawing/2014/main" id="{13ABB51D-93B4-4559-9723-16F56AB8FD1A}"/>
              </a:ext>
            </a:extLst>
          </p:cNvPr>
          <p:cNvGrpSpPr/>
          <p:nvPr/>
        </p:nvGrpSpPr>
        <p:grpSpPr>
          <a:xfrm>
            <a:off x="715802" y="5423783"/>
            <a:ext cx="4653866" cy="1172184"/>
            <a:chOff x="6919610" y="1435135"/>
            <a:chExt cx="4653866" cy="1172184"/>
          </a:xfrm>
        </p:grpSpPr>
        <p:grpSp>
          <p:nvGrpSpPr>
            <p:cNvPr id="45" name="Group 44">
              <a:extLst>
                <a:ext uri="{FF2B5EF4-FFF2-40B4-BE49-F238E27FC236}">
                  <a16:creationId xmlns:a16="http://schemas.microsoft.com/office/drawing/2014/main" id="{2F10BEBF-CAA9-4E1C-8804-9AD4FEBC11FC}"/>
                </a:ext>
              </a:extLst>
            </p:cNvPr>
            <p:cNvGrpSpPr/>
            <p:nvPr/>
          </p:nvGrpSpPr>
          <p:grpSpPr>
            <a:xfrm>
              <a:off x="6919610" y="1736386"/>
              <a:ext cx="515566" cy="496110"/>
              <a:chOff x="1342417" y="1955260"/>
              <a:chExt cx="603115" cy="584775"/>
            </a:xfrm>
          </p:grpSpPr>
          <p:sp>
            <p:nvSpPr>
              <p:cNvPr id="53" name="Oval 52">
                <a:extLst>
                  <a:ext uri="{FF2B5EF4-FFF2-40B4-BE49-F238E27FC236}">
                    <a16:creationId xmlns:a16="http://schemas.microsoft.com/office/drawing/2014/main"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4" name="Oval 53">
                <a:extLst>
                  <a:ext uri="{FF2B5EF4-FFF2-40B4-BE49-F238E27FC236}">
                    <a16:creationId xmlns:a16="http://schemas.microsoft.com/office/drawing/2014/main"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5</a:t>
                </a:r>
              </a:p>
            </p:txBody>
          </p:sp>
        </p:grpSp>
        <p:grpSp>
          <p:nvGrpSpPr>
            <p:cNvPr id="46" name="Group 45">
              <a:extLst>
                <a:ext uri="{FF2B5EF4-FFF2-40B4-BE49-F238E27FC236}">
                  <a16:creationId xmlns:a16="http://schemas.microsoft.com/office/drawing/2014/main" id="{2FD70D27-79C1-4CB8-9C88-50C0AD4D1C43}"/>
                </a:ext>
              </a:extLst>
            </p:cNvPr>
            <p:cNvGrpSpPr/>
            <p:nvPr/>
          </p:nvGrpSpPr>
          <p:grpSpPr>
            <a:xfrm>
              <a:off x="7585136" y="1435135"/>
              <a:ext cx="3988340" cy="1172184"/>
              <a:chOff x="1381328" y="1434829"/>
              <a:chExt cx="3988340" cy="1172184"/>
            </a:xfrm>
          </p:grpSpPr>
          <p:grpSp>
            <p:nvGrpSpPr>
              <p:cNvPr id="47" name="Group 46">
                <a:extLst>
                  <a:ext uri="{FF2B5EF4-FFF2-40B4-BE49-F238E27FC236}">
                    <a16:creationId xmlns:a16="http://schemas.microsoft.com/office/drawing/2014/main" id="{FB466A84-A327-402E-B0EE-240358F469A9}"/>
                  </a:ext>
                </a:extLst>
              </p:cNvPr>
              <p:cNvGrpSpPr/>
              <p:nvPr/>
            </p:nvGrpSpPr>
            <p:grpSpPr>
              <a:xfrm>
                <a:off x="1381328" y="1434829"/>
                <a:ext cx="3988340" cy="1172184"/>
                <a:chOff x="1381328" y="1434829"/>
                <a:chExt cx="3988340" cy="1172184"/>
              </a:xfrm>
            </p:grpSpPr>
            <p:grpSp>
              <p:nvGrpSpPr>
                <p:cNvPr id="49" name="Group 48">
                  <a:extLst>
                    <a:ext uri="{FF2B5EF4-FFF2-40B4-BE49-F238E27FC236}">
                      <a16:creationId xmlns:a16="http://schemas.microsoft.com/office/drawing/2014/main" id="{E38C62B5-1764-446B-B8BD-582328EDE665}"/>
                    </a:ext>
                  </a:extLst>
                </p:cNvPr>
                <p:cNvGrpSpPr/>
                <p:nvPr/>
              </p:nvGrpSpPr>
              <p:grpSpPr>
                <a:xfrm>
                  <a:off x="1381328" y="1434829"/>
                  <a:ext cx="3988340" cy="1172184"/>
                  <a:chOff x="1381328" y="1434829"/>
                  <a:chExt cx="3988340" cy="1172184"/>
                </a:xfrm>
              </p:grpSpPr>
              <p:sp>
                <p:nvSpPr>
                  <p:cNvPr id="51" name="Rectangle: Rounded Corners 50">
                    <a:extLst>
                      <a:ext uri="{FF2B5EF4-FFF2-40B4-BE49-F238E27FC236}">
                        <a16:creationId xmlns:a16="http://schemas.microsoft.com/office/drawing/2014/main"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2" name="Rectangle: Rounded Corners 51">
                    <a:extLst>
                      <a:ext uri="{FF2B5EF4-FFF2-40B4-BE49-F238E27FC236}">
                        <a16:creationId xmlns:a16="http://schemas.microsoft.com/office/drawing/2014/main"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0" name="TextBox 49">
                  <a:extLst>
                    <a:ext uri="{FF2B5EF4-FFF2-40B4-BE49-F238E27FC236}">
                      <a16:creationId xmlns:a16="http://schemas.microsoft.com/office/drawing/2014/main" id="{CCFB88F7-E9DF-47EA-9A63-46EC97BB4623}"/>
                    </a:ext>
                  </a:extLst>
                </p:cNvPr>
                <p:cNvSpPr txBox="1"/>
                <p:nvPr/>
              </p:nvSpPr>
              <p:spPr>
                <a:xfrm>
                  <a:off x="1569398" y="1444250"/>
                  <a:ext cx="3398687"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a:t>Analisis Data Eksploratif (EDA)</a:t>
                  </a:r>
                  <a:endParaRPr lang="en-IN" dirty="0"/>
                </a:p>
              </p:txBody>
            </p:sp>
          </p:grpSp>
          <p:sp>
            <p:nvSpPr>
              <p:cNvPr id="48" name="TextBox 47">
                <a:extLst>
                  <a:ext uri="{FF2B5EF4-FFF2-40B4-BE49-F238E27FC236}">
                    <a16:creationId xmlns:a16="http://schemas.microsoft.com/office/drawing/2014/main" id="{E03AD762-7D6E-4041-9E82-C8162B932722}"/>
                  </a:ext>
                </a:extLst>
              </p:cNvPr>
              <p:cNvSpPr txBox="1"/>
              <p:nvPr/>
            </p:nvSpPr>
            <p:spPr>
              <a:xfrm>
                <a:off x="1528064" y="1893064"/>
                <a:ext cx="3603279" cy="523220"/>
              </a:xfrm>
              <a:prstGeom prst="rect">
                <a:avLst/>
              </a:prstGeom>
              <a:noFill/>
            </p:spPr>
            <p:txBody>
              <a:bodyPr wrap="square" rtlCol="0">
                <a:spAutoFit/>
              </a:bodyPr>
              <a:lstStyle/>
              <a:p>
                <a:r>
                  <a:rPr lang="en-GB">
                    <a:solidFill>
                      <a:schemeClr val="tx1">
                        <a:lumMod val="75000"/>
                        <a:lumOff val="25000"/>
                      </a:schemeClr>
                    </a:solidFill>
                    <a:latin typeface="Poppins" panose="020B0604020202020204" charset="0"/>
                    <a:cs typeface="Poppins" panose="020B0604020202020204" charset="0"/>
                  </a:rPr>
                  <a:t>Visualisasikan tren, bandingkan kinerja, dan ekstrak wawasan utama.</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55" name="Group 54">
            <a:extLst>
              <a:ext uri="{FF2B5EF4-FFF2-40B4-BE49-F238E27FC236}">
                <a16:creationId xmlns:a16="http://schemas.microsoft.com/office/drawing/2014/main" id="{72B13C1E-3853-4A2C-BFA8-EA9291EB86D9}"/>
              </a:ext>
            </a:extLst>
          </p:cNvPr>
          <p:cNvGrpSpPr/>
          <p:nvPr/>
        </p:nvGrpSpPr>
        <p:grpSpPr>
          <a:xfrm>
            <a:off x="6919610" y="5385716"/>
            <a:ext cx="4653866" cy="1210636"/>
            <a:chOff x="6919610" y="1396683"/>
            <a:chExt cx="4653866" cy="1210636"/>
          </a:xfrm>
        </p:grpSpPr>
        <p:grpSp>
          <p:nvGrpSpPr>
            <p:cNvPr id="56" name="Group 55">
              <a:extLst>
                <a:ext uri="{FF2B5EF4-FFF2-40B4-BE49-F238E27FC236}">
                  <a16:creationId xmlns:a16="http://schemas.microsoft.com/office/drawing/2014/main" id="{110D2896-6330-44DF-BCBE-D030ED21923C}"/>
                </a:ext>
              </a:extLst>
            </p:cNvPr>
            <p:cNvGrpSpPr/>
            <p:nvPr/>
          </p:nvGrpSpPr>
          <p:grpSpPr>
            <a:xfrm>
              <a:off x="6919610" y="1736386"/>
              <a:ext cx="515566" cy="496110"/>
              <a:chOff x="1342417" y="1955260"/>
              <a:chExt cx="603115" cy="584775"/>
            </a:xfrm>
          </p:grpSpPr>
          <p:sp>
            <p:nvSpPr>
              <p:cNvPr id="64" name="Oval 63">
                <a:extLst>
                  <a:ext uri="{FF2B5EF4-FFF2-40B4-BE49-F238E27FC236}">
                    <a16:creationId xmlns:a16="http://schemas.microsoft.com/office/drawing/2014/main"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65" name="Oval 64">
                <a:extLst>
                  <a:ext uri="{FF2B5EF4-FFF2-40B4-BE49-F238E27FC236}">
                    <a16:creationId xmlns:a16="http://schemas.microsoft.com/office/drawing/2014/main"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6</a:t>
                </a:r>
              </a:p>
            </p:txBody>
          </p:sp>
        </p:grpSp>
        <p:grpSp>
          <p:nvGrpSpPr>
            <p:cNvPr id="57" name="Group 56">
              <a:extLst>
                <a:ext uri="{FF2B5EF4-FFF2-40B4-BE49-F238E27FC236}">
                  <a16:creationId xmlns:a16="http://schemas.microsoft.com/office/drawing/2014/main" id="{E0E4E9CE-06FE-4A1A-AEDB-A3115758DB6B}"/>
                </a:ext>
              </a:extLst>
            </p:cNvPr>
            <p:cNvGrpSpPr/>
            <p:nvPr/>
          </p:nvGrpSpPr>
          <p:grpSpPr>
            <a:xfrm>
              <a:off x="7585136" y="1396683"/>
              <a:ext cx="3988340" cy="1210636"/>
              <a:chOff x="1381328" y="1396377"/>
              <a:chExt cx="3988340" cy="1210636"/>
            </a:xfrm>
          </p:grpSpPr>
          <p:grpSp>
            <p:nvGrpSpPr>
              <p:cNvPr id="58" name="Group 57">
                <a:extLst>
                  <a:ext uri="{FF2B5EF4-FFF2-40B4-BE49-F238E27FC236}">
                    <a16:creationId xmlns:a16="http://schemas.microsoft.com/office/drawing/2014/main" id="{1AB8E4A4-F199-4A40-ADCF-4C974F31936D}"/>
                  </a:ext>
                </a:extLst>
              </p:cNvPr>
              <p:cNvGrpSpPr/>
              <p:nvPr/>
            </p:nvGrpSpPr>
            <p:grpSpPr>
              <a:xfrm>
                <a:off x="1381328" y="1396377"/>
                <a:ext cx="3988340" cy="1210636"/>
                <a:chOff x="1381328" y="1396377"/>
                <a:chExt cx="3988340" cy="1210636"/>
              </a:xfrm>
            </p:grpSpPr>
            <p:grpSp>
              <p:nvGrpSpPr>
                <p:cNvPr id="60" name="Group 59">
                  <a:extLst>
                    <a:ext uri="{FF2B5EF4-FFF2-40B4-BE49-F238E27FC236}">
                      <a16:creationId xmlns:a16="http://schemas.microsoft.com/office/drawing/2014/main" id="{6060757E-3A57-4E72-8521-B3500CC3B70E}"/>
                    </a:ext>
                  </a:extLst>
                </p:cNvPr>
                <p:cNvGrpSpPr/>
                <p:nvPr/>
              </p:nvGrpSpPr>
              <p:grpSpPr>
                <a:xfrm>
                  <a:off x="1381328" y="1434829"/>
                  <a:ext cx="3988340" cy="1172184"/>
                  <a:chOff x="1381328" y="1434829"/>
                  <a:chExt cx="3988340" cy="1172184"/>
                </a:xfrm>
              </p:grpSpPr>
              <p:sp>
                <p:nvSpPr>
                  <p:cNvPr id="62" name="Rectangle: Rounded Corners 61">
                    <a:extLst>
                      <a:ext uri="{FF2B5EF4-FFF2-40B4-BE49-F238E27FC236}">
                        <a16:creationId xmlns:a16="http://schemas.microsoft.com/office/drawing/2014/main"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63" name="Rectangle: Rounded Corners 62">
                    <a:extLst>
                      <a:ext uri="{FF2B5EF4-FFF2-40B4-BE49-F238E27FC236}">
                        <a16:creationId xmlns:a16="http://schemas.microsoft.com/office/drawing/2014/main" id="{ACD131EC-6919-4C50-A80F-27A3831A01A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1" name="TextBox 60">
                  <a:extLst>
                    <a:ext uri="{FF2B5EF4-FFF2-40B4-BE49-F238E27FC236}">
                      <a16:creationId xmlns:a16="http://schemas.microsoft.com/office/drawing/2014/main" id="{D5D5ED60-A3EA-45E9-97D8-1F08E47E6C2F}"/>
                    </a:ext>
                  </a:extLst>
                </p:cNvPr>
                <p:cNvSpPr txBox="1"/>
                <p:nvPr/>
              </p:nvSpPr>
              <p:spPr>
                <a:xfrm>
                  <a:off x="1408451" y="1396377"/>
                  <a:ext cx="3066865" cy="338554"/>
                </a:xfrm>
                <a:prstGeom prst="rect">
                  <a:avLst/>
                </a:prstGeom>
                <a:noFill/>
              </p:spPr>
              <p:txBody>
                <a:bodyPr wrap="none" rtlCol="0">
                  <a:spAutoFit/>
                </a:bodyPr>
                <a:lstStyle/>
                <a:p>
                  <a:r>
                    <a:rPr lang="en-IN" sz="1600" b="1">
                      <a:solidFill>
                        <a:schemeClr val="bg1">
                          <a:lumMod val="95000"/>
                        </a:schemeClr>
                      </a:solidFill>
                      <a:latin typeface="Poppins" panose="020B0604020202020204" charset="0"/>
                      <a:cs typeface="Poppins" panose="020B0604020202020204" charset="0"/>
                    </a:rPr>
                    <a:t>Dashboard &amp; Rekomendasi</a:t>
                  </a:r>
                  <a:endParaRPr lang="en-IN" sz="1600" b="1" dirty="0">
                    <a:solidFill>
                      <a:schemeClr val="bg1">
                        <a:lumMod val="95000"/>
                      </a:schemeClr>
                    </a:solidFill>
                    <a:latin typeface="Poppins" panose="020B0604020202020204" charset="0"/>
                    <a:cs typeface="Poppins" panose="020B0604020202020204" charset="0"/>
                  </a:endParaRPr>
                </a:p>
              </p:txBody>
            </p:sp>
          </p:grpSp>
          <p:sp>
            <p:nvSpPr>
              <p:cNvPr id="59" name="TextBox 58">
                <a:extLst>
                  <a:ext uri="{FF2B5EF4-FFF2-40B4-BE49-F238E27FC236}">
                    <a16:creationId xmlns:a16="http://schemas.microsoft.com/office/drawing/2014/main" id="{E91E3C3A-3821-404A-ADC1-9EF6E819833C}"/>
                  </a:ext>
                </a:extLst>
              </p:cNvPr>
              <p:cNvSpPr txBox="1"/>
              <p:nvPr/>
            </p:nvSpPr>
            <p:spPr>
              <a:xfrm>
                <a:off x="1562185" y="1893064"/>
                <a:ext cx="3569158" cy="523220"/>
              </a:xfrm>
              <a:prstGeom prst="rect">
                <a:avLst/>
              </a:prstGeom>
              <a:noFill/>
            </p:spPr>
            <p:txBody>
              <a:bodyPr wrap="square" rtlCol="0">
                <a:spAutoFit/>
              </a:bodyPr>
              <a:lstStyle/>
              <a:p>
                <a:r>
                  <a:rPr lang="en-GB">
                    <a:solidFill>
                      <a:schemeClr val="tx1">
                        <a:lumMod val="75000"/>
                        <a:lumOff val="25000"/>
                      </a:schemeClr>
                    </a:solidFill>
                    <a:latin typeface="Poppins" panose="020B0604020202020204" charset="0"/>
                    <a:cs typeface="Poppins" panose="020B0604020202020204" charset="0"/>
                  </a:rPr>
                  <a:t>Bangun dashboard Power BI dan sajikan temuan strategis.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66" name="Group 65">
            <a:extLst>
              <a:ext uri="{FF2B5EF4-FFF2-40B4-BE49-F238E27FC236}">
                <a16:creationId xmlns:a16="http://schemas.microsoft.com/office/drawing/2014/main" id="{083E314C-FD29-4853-A3B8-B4A0D19F605D}"/>
              </a:ext>
            </a:extLst>
          </p:cNvPr>
          <p:cNvGrpSpPr/>
          <p:nvPr/>
        </p:nvGrpSpPr>
        <p:grpSpPr>
          <a:xfrm>
            <a:off x="6919610" y="3420323"/>
            <a:ext cx="4653866" cy="1196899"/>
            <a:chOff x="6919610" y="1435135"/>
            <a:chExt cx="4653866" cy="1196899"/>
          </a:xfrm>
        </p:grpSpPr>
        <p:grpSp>
          <p:nvGrpSpPr>
            <p:cNvPr id="67" name="Group 66">
              <a:extLst>
                <a:ext uri="{FF2B5EF4-FFF2-40B4-BE49-F238E27FC236}">
                  <a16:creationId xmlns:a16="http://schemas.microsoft.com/office/drawing/2014/main" id="{CB5166AC-044A-438B-BE88-D3A913A5DC12}"/>
                </a:ext>
              </a:extLst>
            </p:cNvPr>
            <p:cNvGrpSpPr/>
            <p:nvPr/>
          </p:nvGrpSpPr>
          <p:grpSpPr>
            <a:xfrm>
              <a:off x="6919610" y="1736386"/>
              <a:ext cx="515566" cy="496110"/>
              <a:chOff x="1342417" y="1955260"/>
              <a:chExt cx="603115" cy="584775"/>
            </a:xfrm>
          </p:grpSpPr>
          <p:sp>
            <p:nvSpPr>
              <p:cNvPr id="75" name="Oval 74">
                <a:extLst>
                  <a:ext uri="{FF2B5EF4-FFF2-40B4-BE49-F238E27FC236}">
                    <a16:creationId xmlns:a16="http://schemas.microsoft.com/office/drawing/2014/main" id="{CD174C2B-4C25-496A-916E-6EC07BF44514}"/>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76" name="Oval 75">
                <a:extLst>
                  <a:ext uri="{FF2B5EF4-FFF2-40B4-BE49-F238E27FC236}">
                    <a16:creationId xmlns:a16="http://schemas.microsoft.com/office/drawing/2014/main" id="{71449820-6234-4F87-9A9A-EF0F3A52A94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68" name="Group 67">
              <a:extLst>
                <a:ext uri="{FF2B5EF4-FFF2-40B4-BE49-F238E27FC236}">
                  <a16:creationId xmlns:a16="http://schemas.microsoft.com/office/drawing/2014/main" id="{FA2FF067-0F24-4F0E-BB1C-B267C0AB36F0}"/>
                </a:ext>
              </a:extLst>
            </p:cNvPr>
            <p:cNvGrpSpPr/>
            <p:nvPr/>
          </p:nvGrpSpPr>
          <p:grpSpPr>
            <a:xfrm>
              <a:off x="7585136" y="1435135"/>
              <a:ext cx="3988340" cy="1196899"/>
              <a:chOff x="1381328" y="1434829"/>
              <a:chExt cx="3988340" cy="1196899"/>
            </a:xfrm>
          </p:grpSpPr>
          <p:grpSp>
            <p:nvGrpSpPr>
              <p:cNvPr id="69" name="Group 68">
                <a:extLst>
                  <a:ext uri="{FF2B5EF4-FFF2-40B4-BE49-F238E27FC236}">
                    <a16:creationId xmlns:a16="http://schemas.microsoft.com/office/drawing/2014/main" id="{9D0BC41F-907D-4514-8C9C-E73AEF850A4A}"/>
                  </a:ext>
                </a:extLst>
              </p:cNvPr>
              <p:cNvGrpSpPr/>
              <p:nvPr/>
            </p:nvGrpSpPr>
            <p:grpSpPr>
              <a:xfrm>
                <a:off x="1381328" y="1434829"/>
                <a:ext cx="3988340" cy="1172184"/>
                <a:chOff x="1381328" y="1434829"/>
                <a:chExt cx="3988340" cy="1172184"/>
              </a:xfrm>
            </p:grpSpPr>
            <p:grpSp>
              <p:nvGrpSpPr>
                <p:cNvPr id="71" name="Group 70">
                  <a:extLst>
                    <a:ext uri="{FF2B5EF4-FFF2-40B4-BE49-F238E27FC236}">
                      <a16:creationId xmlns:a16="http://schemas.microsoft.com/office/drawing/2014/main" id="{892EABF6-5D86-4055-91E0-A615C2AC3E8F}"/>
                    </a:ext>
                  </a:extLst>
                </p:cNvPr>
                <p:cNvGrpSpPr/>
                <p:nvPr/>
              </p:nvGrpSpPr>
              <p:grpSpPr>
                <a:xfrm>
                  <a:off x="1381328" y="1434829"/>
                  <a:ext cx="3988340" cy="1172184"/>
                  <a:chOff x="1381328" y="1434829"/>
                  <a:chExt cx="3988340" cy="1172184"/>
                </a:xfrm>
              </p:grpSpPr>
              <p:sp>
                <p:nvSpPr>
                  <p:cNvPr id="73" name="Rectangle: Rounded Corners 72">
                    <a:extLst>
                      <a:ext uri="{FF2B5EF4-FFF2-40B4-BE49-F238E27FC236}">
                        <a16:creationId xmlns:a16="http://schemas.microsoft.com/office/drawing/2014/main" id="{C346E881-C62B-4D7C-9B95-A54F2ED586A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74" name="Rectangle: Rounded Corners 73">
                    <a:extLst>
                      <a:ext uri="{FF2B5EF4-FFF2-40B4-BE49-F238E27FC236}">
                        <a16:creationId xmlns:a16="http://schemas.microsoft.com/office/drawing/2014/main" id="{F0A7A4F5-E0B6-4EFE-9737-634C9FC71115}"/>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2" name="TextBox 71">
                  <a:extLst>
                    <a:ext uri="{FF2B5EF4-FFF2-40B4-BE49-F238E27FC236}">
                      <a16:creationId xmlns:a16="http://schemas.microsoft.com/office/drawing/2014/main" id="{A2CD427E-0952-4B14-B432-2BE2E30E4A11}"/>
                    </a:ext>
                  </a:extLst>
                </p:cNvPr>
                <p:cNvSpPr txBox="1"/>
                <p:nvPr/>
              </p:nvSpPr>
              <p:spPr>
                <a:xfrm>
                  <a:off x="1562185" y="1443506"/>
                  <a:ext cx="3757760" cy="338554"/>
                </a:xfrm>
                <a:prstGeom prst="rect">
                  <a:avLst/>
                </a:prstGeom>
                <a:noFill/>
              </p:spPr>
              <p:txBody>
                <a:bodyPr wrap="none" rtlCol="0">
                  <a:spAutoFit/>
                </a:bodyPr>
                <a:lstStyle/>
                <a:p>
                  <a:r>
                    <a:rPr lang="en-IN" sz="1600" b="1">
                      <a:solidFill>
                        <a:schemeClr val="bg1">
                          <a:lumMod val="95000"/>
                        </a:schemeClr>
                      </a:solidFill>
                      <a:latin typeface="Poppins" panose="020B0604020202020204" charset="0"/>
                      <a:cs typeface="Poppins" panose="020B0604020202020204" charset="0"/>
                    </a:rPr>
                    <a:t>Pemuatan Data &amp; Eksplorasi Awal</a:t>
                  </a:r>
                  <a:endParaRPr lang="en-IN" sz="1600" b="1" dirty="0">
                    <a:solidFill>
                      <a:schemeClr val="bg1">
                        <a:lumMod val="95000"/>
                      </a:schemeClr>
                    </a:solidFill>
                    <a:latin typeface="Poppins" panose="020B0604020202020204" charset="0"/>
                    <a:cs typeface="Poppins" panose="020B0604020202020204" charset="0"/>
                  </a:endParaRPr>
                </a:p>
              </p:txBody>
            </p:sp>
          </p:grpSp>
          <p:sp>
            <p:nvSpPr>
              <p:cNvPr id="70" name="TextBox 69">
                <a:extLst>
                  <a:ext uri="{FF2B5EF4-FFF2-40B4-BE49-F238E27FC236}">
                    <a16:creationId xmlns:a16="http://schemas.microsoft.com/office/drawing/2014/main" id="{69E30CEB-3954-4594-84AC-00D2BD922791}"/>
                  </a:ext>
                </a:extLst>
              </p:cNvPr>
              <p:cNvSpPr txBox="1"/>
              <p:nvPr/>
            </p:nvSpPr>
            <p:spPr>
              <a:xfrm>
                <a:off x="1562185" y="1893064"/>
                <a:ext cx="3622090" cy="738664"/>
              </a:xfrm>
              <a:prstGeom prst="rect">
                <a:avLst/>
              </a:prstGeom>
              <a:noFill/>
            </p:spPr>
            <p:txBody>
              <a:bodyPr wrap="square" rtlCol="0">
                <a:spAutoFit/>
              </a:bodyPr>
              <a:lstStyle/>
              <a:p>
                <a:r>
                  <a:rPr lang="en-GB">
                    <a:solidFill>
                      <a:schemeClr val="tx1">
                        <a:lumMod val="75000"/>
                        <a:lumOff val="25000"/>
                      </a:schemeClr>
                    </a:solidFill>
                    <a:latin typeface="Poppins" panose="020B0604020202020204" charset="0"/>
                    <a:cs typeface="Poppins" panose="020B0604020202020204" charset="0"/>
                  </a:rPr>
                  <a:t>Masukkan ke Colab untuk profiling awal dan pemahaman data menggunakan Python.</a:t>
                </a:r>
                <a:endParaRPr lang="en-IN" dirty="0">
                  <a:solidFill>
                    <a:schemeClr val="tx1">
                      <a:lumMod val="75000"/>
                      <a:lumOff val="25000"/>
                    </a:schemeClr>
                  </a:solidFill>
                  <a:latin typeface="Poppins" panose="020B0604020202020204" charset="0"/>
                  <a:cs typeface="Poppins" panose="020B0604020202020204" charset="0"/>
                </a:endParaRPr>
              </a:p>
            </p:txBody>
          </p:sp>
        </p:grpSp>
      </p:grpSp>
      <p:sp>
        <p:nvSpPr>
          <p:cNvPr id="23" name="Arrow: Right 22">
            <a:extLst>
              <a:ext uri="{FF2B5EF4-FFF2-40B4-BE49-F238E27FC236}">
                <a16:creationId xmlns:a16="http://schemas.microsoft.com/office/drawing/2014/main" id="{07B9B53A-B034-4382-A896-C2726EE95972}"/>
              </a:ext>
            </a:extLst>
          </p:cNvPr>
          <p:cNvSpPr/>
          <p:nvPr/>
        </p:nvSpPr>
        <p:spPr>
          <a:xfrm>
            <a:off x="5711497" y="1919825"/>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3889887A-74E6-40EB-B837-1877233C60FC}"/>
              </a:ext>
            </a:extLst>
          </p:cNvPr>
          <p:cNvSpPr/>
          <p:nvPr/>
        </p:nvSpPr>
        <p:spPr>
          <a:xfrm flipH="1">
            <a:off x="5711497" y="3834922"/>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id="{1BEB75ED-733C-42F9-A05E-32835DF6F647}"/>
              </a:ext>
            </a:extLst>
          </p:cNvPr>
          <p:cNvSpPr/>
          <p:nvPr/>
        </p:nvSpPr>
        <p:spPr>
          <a:xfrm>
            <a:off x="5711497" y="5856181"/>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Right 79">
            <a:extLst>
              <a:ext uri="{FF2B5EF4-FFF2-40B4-BE49-F238E27FC236}">
                <a16:creationId xmlns:a16="http://schemas.microsoft.com/office/drawing/2014/main" id="{6FA1A312-DD06-4728-96F8-F8B412D92DA6}"/>
              </a:ext>
            </a:extLst>
          </p:cNvPr>
          <p:cNvSpPr/>
          <p:nvPr/>
        </p:nvSpPr>
        <p:spPr>
          <a:xfrm rot="5400000">
            <a:off x="9271597" y="2882540"/>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id="{472CC1FB-C494-4C5B-A225-88F6655DA517}"/>
              </a:ext>
            </a:extLst>
          </p:cNvPr>
          <p:cNvSpPr/>
          <p:nvPr/>
        </p:nvSpPr>
        <p:spPr>
          <a:xfrm rot="5400000">
            <a:off x="3024831" y="4909703"/>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Google Shape;147;p2">
            <a:extLst>
              <a:ext uri="{FF2B5EF4-FFF2-40B4-BE49-F238E27FC236}">
                <a16:creationId xmlns:a16="http://schemas.microsoft.com/office/drawing/2014/main" id="{FE671C9F-19B6-4496-AED5-59042014B1D2}"/>
              </a:ext>
            </a:extLst>
          </p:cNvPr>
          <p:cNvSpPr txBox="1">
            <a:spLocks/>
          </p:cNvSpPr>
          <p:nvPr/>
        </p:nvSpPr>
        <p:spPr>
          <a:xfrm>
            <a:off x="463043" y="421813"/>
            <a:ext cx="40708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a:solidFill>
                  <a:schemeClr val="tx1">
                    <a:lumMod val="75000"/>
                    <a:lumOff val="25000"/>
                  </a:schemeClr>
                </a:solidFill>
                <a:latin typeface="Poppins" panose="020B0604020202020204" charset="0"/>
                <a:cs typeface="Poppins" panose="020B0604020202020204" charset="0"/>
              </a:rPr>
              <a:t>Alur Kerja Proyek</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71110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3200" b="1">
                <a:solidFill>
                  <a:srgbClr val="FFFFFF"/>
                </a:solidFill>
                <a:latin typeface="Poppins"/>
                <a:ea typeface="Poppins"/>
                <a:cs typeface="Poppins"/>
                <a:sym typeface="Poppins"/>
              </a:rPr>
              <a:t>Analisis Data Eksploratif</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9114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pic>
        <p:nvPicPr>
          <p:cNvPr id="12" name="Picture 11">
            <a:extLst>
              <a:ext uri="{FF2B5EF4-FFF2-40B4-BE49-F238E27FC236}">
                <a16:creationId xmlns:a16="http://schemas.microsoft.com/office/drawing/2014/main" id="{B3B08731-3CE6-4651-B7E0-95FE8D605950}"/>
              </a:ext>
            </a:extLst>
          </p:cNvPr>
          <p:cNvPicPr>
            <a:picLocks noChangeAspect="1"/>
          </p:cNvPicPr>
          <p:nvPr/>
        </p:nvPicPr>
        <p:blipFill>
          <a:blip r:embed="rId4"/>
          <a:stretch>
            <a:fillRect/>
          </a:stretch>
        </p:blipFill>
        <p:spPr>
          <a:xfrm>
            <a:off x="1281309" y="1359990"/>
            <a:ext cx="9045724" cy="4138019"/>
          </a:xfrm>
          <a:prstGeom prst="rect">
            <a:avLst/>
          </a:prstGeom>
        </p:spPr>
      </p:pic>
      <p:sp>
        <p:nvSpPr>
          <p:cNvPr id="13" name="TextBox 12">
            <a:extLst>
              <a:ext uri="{FF2B5EF4-FFF2-40B4-BE49-F238E27FC236}">
                <a16:creationId xmlns:a16="http://schemas.microsoft.com/office/drawing/2014/main" id="{3BF53811-D762-4915-B310-451A1A405693}"/>
              </a:ext>
            </a:extLst>
          </p:cNvPr>
          <p:cNvSpPr txBox="1"/>
          <p:nvPr/>
        </p:nvSpPr>
        <p:spPr>
          <a:xfrm>
            <a:off x="2800655" y="5711099"/>
            <a:ext cx="9045724" cy="1077218"/>
          </a:xfrm>
          <a:prstGeom prst="rect">
            <a:avLst/>
          </a:prstGeom>
          <a:solidFill>
            <a:srgbClr val="FFFFFF"/>
          </a:solidFill>
        </p:spPr>
        <p:txBody>
          <a:bodyPr wrap="square" rtlCol="0">
            <a:spAutoFit/>
          </a:bodyPr>
          <a:lstStyle/>
          <a:p>
            <a:r>
              <a:rPr lang="en-GB" sz="1600">
                <a:solidFill>
                  <a:schemeClr val="tx1">
                    <a:lumMod val="75000"/>
                    <a:lumOff val="25000"/>
                  </a:schemeClr>
                </a:solidFill>
                <a:latin typeface="Poppins" panose="020B0604020202020204" charset="0"/>
                <a:cs typeface="Poppins" panose="020B0604020202020204" charset="0"/>
              </a:rPr>
              <a:t>Penjualan, produk, anggaran, pelanggan, wilayah, dan status tersebar di tabel-tabel yang tidak terhubung. Tidak ada hubungan yang didefinisikan awalnya— Pra-pemrosesan diperlukan untuk membersihkan, menormalkan, dan menggabungkannya untuk analisis.</a:t>
            </a:r>
            <a:endParaRPr lang="en-IN" sz="1600" dirty="0">
              <a:solidFill>
                <a:schemeClr val="tx1">
                  <a:lumMod val="75000"/>
                  <a:lumOff val="25000"/>
                </a:schemeClr>
              </a:solidFill>
              <a:latin typeface="Poppins" panose="020B0604020202020204" charset="0"/>
              <a:cs typeface="Poppins" panose="020B0604020202020204" charset="0"/>
            </a:endParaRPr>
          </a:p>
        </p:txBody>
      </p:sp>
      <p:sp>
        <p:nvSpPr>
          <p:cNvPr id="11" name="Google Shape;147;p2">
            <a:extLst>
              <a:ext uri="{FF2B5EF4-FFF2-40B4-BE49-F238E27FC236}">
                <a16:creationId xmlns:a16="http://schemas.microsoft.com/office/drawing/2014/main" id="{B1F4B852-2969-48F3-9E37-051C3C50B6B8}"/>
              </a:ext>
            </a:extLst>
          </p:cNvPr>
          <p:cNvSpPr txBox="1">
            <a:spLocks/>
          </p:cNvSpPr>
          <p:nvPr/>
        </p:nvSpPr>
        <p:spPr>
          <a:xfrm>
            <a:off x="463043" y="421813"/>
            <a:ext cx="100144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a:solidFill>
                  <a:schemeClr val="tx1">
                    <a:lumMod val="75000"/>
                    <a:lumOff val="25000"/>
                  </a:schemeClr>
                </a:solidFill>
                <a:latin typeface="Poppins" panose="020B0604020202020204" charset="0"/>
                <a:cs typeface="Poppins" panose="020B0604020202020204" charset="0"/>
              </a:rPr>
              <a:t>Struktur Dataset Mentah – Sebelum Pemrosesan</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660343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95AFDF18-485D-46A1-A1EF-410FA1BE1A28}"/>
              </a:ext>
            </a:extLst>
          </p:cNvPr>
          <p:cNvSpPr/>
          <p:nvPr/>
        </p:nvSpPr>
        <p:spPr>
          <a:xfrm>
            <a:off x="142240" y="160474"/>
            <a:ext cx="11783242" cy="2139361"/>
          </a:xfrm>
          <a:prstGeom prst="round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0" name="Google Shape;147;p2">
            <a:extLst>
              <a:ext uri="{FF2B5EF4-FFF2-40B4-BE49-F238E27FC236}">
                <a16:creationId xmlns:a16="http://schemas.microsoft.com/office/drawing/2014/main" id="{75D9E483-387E-4AB4-8B25-7F7D37FCFB41}"/>
              </a:ext>
            </a:extLst>
          </p:cNvPr>
          <p:cNvSpPr txBox="1">
            <a:spLocks/>
          </p:cNvSpPr>
          <p:nvPr/>
        </p:nvSpPr>
        <p:spPr>
          <a:xfrm>
            <a:off x="463044" y="421813"/>
            <a:ext cx="7899906"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a:solidFill>
                  <a:schemeClr val="tx1">
                    <a:lumMod val="75000"/>
                    <a:lumOff val="25000"/>
                  </a:schemeClr>
                </a:solidFill>
              </a:rPr>
              <a:t>Analisis Data Eksploratif (EDA)</a:t>
            </a:r>
            <a:endParaRPr lang="en-US" sz="3200" dirty="0">
              <a:solidFill>
                <a:schemeClr val="tx1">
                  <a:lumMod val="75000"/>
                  <a:lumOff val="25000"/>
                </a:schemeClr>
              </a:solidFill>
            </a:endParaRPr>
          </a:p>
        </p:txBody>
      </p:sp>
      <p:sp>
        <p:nvSpPr>
          <p:cNvPr id="15" name="TextBox 14">
            <a:extLst>
              <a:ext uri="{FF2B5EF4-FFF2-40B4-BE49-F238E27FC236}">
                <a16:creationId xmlns:a16="http://schemas.microsoft.com/office/drawing/2014/main" id="{AE146086-361F-4C62-80E9-CA1C908EADA9}"/>
              </a:ext>
            </a:extLst>
          </p:cNvPr>
          <p:cNvSpPr txBox="1"/>
          <p:nvPr/>
        </p:nvSpPr>
        <p:spPr>
          <a:xfrm>
            <a:off x="382895" y="1191547"/>
            <a:ext cx="10889184" cy="461665"/>
          </a:xfrm>
          <a:prstGeom prst="rect">
            <a:avLst/>
          </a:prstGeom>
          <a:noFill/>
        </p:spPr>
        <p:txBody>
          <a:bodyPr wrap="square">
            <a:spAutoFit/>
          </a:bodyPr>
          <a:lstStyle/>
          <a:p>
            <a:r>
              <a:rPr lang="en-GB" sz="2400">
                <a:solidFill>
                  <a:schemeClr val="tx1">
                    <a:lumMod val="75000"/>
                    <a:lumOff val="25000"/>
                  </a:schemeClr>
                </a:solidFill>
                <a:latin typeface="Poppins" panose="020B0604020202020204" charset="0"/>
                <a:cs typeface="Poppins" panose="020B0604020202020204" charset="0"/>
              </a:rPr>
              <a:t>Mengungkap pola, tren, dan wawasan bisnis dari data historis!</a:t>
            </a:r>
            <a:endParaRPr lang="en-IN" sz="2400" dirty="0">
              <a:solidFill>
                <a:schemeClr val="tx1">
                  <a:lumMod val="75000"/>
                  <a:lumOff val="25000"/>
                </a:schemeClr>
              </a:solidFill>
              <a:latin typeface="Poppins" panose="020B0604020202020204" charset="0"/>
              <a:cs typeface="Poppins" panose="020B0604020202020204" charset="0"/>
            </a:endParaRPr>
          </a:p>
        </p:txBody>
      </p:sp>
      <p:sp>
        <p:nvSpPr>
          <p:cNvPr id="16" name="TextBox 15">
            <a:extLst>
              <a:ext uri="{FF2B5EF4-FFF2-40B4-BE49-F238E27FC236}">
                <a16:creationId xmlns:a16="http://schemas.microsoft.com/office/drawing/2014/main" id="{6C8C1E92-F7B3-45B0-A62C-A44E0F03A3E8}"/>
              </a:ext>
            </a:extLst>
          </p:cNvPr>
          <p:cNvSpPr txBox="1"/>
          <p:nvPr/>
        </p:nvSpPr>
        <p:spPr>
          <a:xfrm>
            <a:off x="1026160" y="3221872"/>
            <a:ext cx="8920480" cy="1631216"/>
          </a:xfrm>
          <a:prstGeom prst="rect">
            <a:avLst/>
          </a:prstGeom>
          <a:noFill/>
        </p:spPr>
        <p:txBody>
          <a:bodyPr wrap="square" rtlCol="0">
            <a:spAutoFit/>
          </a:bodyPr>
          <a:lstStyle/>
          <a:p>
            <a:r>
              <a:rPr lang="nn-NO" sz="2000">
                <a:latin typeface="Poppins" panose="020B0604020202020204" charset="0"/>
                <a:cs typeface="Poppins" panose="020B0604020202020204" charset="0"/>
              </a:rPr>
              <a:t>Memahami "Apa, Di Mana &amp; Mengapa" di balik angka penjualan
</a:t>
            </a:r>
            <a:br>
              <a:rPr lang="nn-NO" sz="2000">
                <a:latin typeface="Poppins" panose="020B0604020202020204" charset="0"/>
                <a:cs typeface="Poppins" panose="020B0604020202020204" charset="0"/>
              </a:rPr>
            </a:br>
            <a:r>
              <a:rPr lang="nn-NO" sz="2000">
                <a:latin typeface="Poppins" panose="020B0604020202020204" charset="0"/>
                <a:cs typeface="Poppins" panose="020B0604020202020204" charset="0"/>
              </a:rPr>
              <a:t>Menjelajahi data melalui visual, agregasi, dan perbandingan</a:t>
            </a:r>
            <a:br>
              <a:rPr lang="nn-NO" sz="2000">
                <a:latin typeface="Poppins" panose="020B0604020202020204" charset="0"/>
                <a:cs typeface="Poppins" panose="020B0604020202020204" charset="0"/>
              </a:rPr>
            </a:br>
            <a:r>
              <a:rPr lang="nn-NO" sz="2000">
                <a:latin typeface="Poppins" panose="020B0604020202020204" charset="0"/>
                <a:cs typeface="Poppins" panose="020B0604020202020204" charset="0"/>
              </a:rPr>
              <a:t>
Meletakkan dasar untuk rekomendasi yang terinformasi</a:t>
            </a:r>
            <a:endParaRPr lang="en-IN" sz="2000" dirty="0">
              <a:latin typeface="Poppins" panose="020B0604020202020204" charset="0"/>
              <a:cs typeface="Poppins" panose="020B0604020202020204" charset="0"/>
            </a:endParaRPr>
          </a:p>
        </p:txBody>
      </p:sp>
      <p:sp>
        <p:nvSpPr>
          <p:cNvPr id="3" name="Rectangle 2">
            <a:extLst>
              <a:ext uri="{FF2B5EF4-FFF2-40B4-BE49-F238E27FC236}">
                <a16:creationId xmlns:a16="http://schemas.microsoft.com/office/drawing/2014/main" id="{A645E018-D73C-4171-B9DE-0D4706E0971B}"/>
              </a:ext>
            </a:extLst>
          </p:cNvPr>
          <p:cNvSpPr/>
          <p:nvPr/>
        </p:nvSpPr>
        <p:spPr>
          <a:xfrm>
            <a:off x="10389140" y="6021421"/>
            <a:ext cx="1663430" cy="5933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EE74188-77DA-4BBC-874D-E9DE7066B856}"/>
              </a:ext>
            </a:extLst>
          </p:cNvPr>
          <p:cNvPicPr>
            <a:picLocks noChangeAspect="1"/>
          </p:cNvPicPr>
          <p:nvPr/>
        </p:nvPicPr>
        <p:blipFill>
          <a:blip r:embed="rId4"/>
          <a:stretch>
            <a:fillRect/>
          </a:stretch>
        </p:blipFill>
        <p:spPr>
          <a:xfrm>
            <a:off x="9688057" y="5905007"/>
            <a:ext cx="2364514" cy="587867"/>
          </a:xfrm>
          <a:prstGeom prst="rect">
            <a:avLst/>
          </a:prstGeom>
        </p:spPr>
      </p:pic>
    </p:spTree>
    <p:extLst>
      <p:ext uri="{BB962C8B-B14F-4D97-AF65-F5344CB8AC3E}">
        <p14:creationId xmlns:p14="http://schemas.microsoft.com/office/powerpoint/2010/main" val="97588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1964987" y="1745013"/>
            <a:ext cx="5830659" cy="3159839"/>
          </a:xfrm>
          <a:prstGeom prst="rect">
            <a:avLst/>
          </a:prstGeom>
          <a:noFill/>
        </p:spPr>
        <p:txBody>
          <a:bodyPr wrap="square">
            <a:spAutoFit/>
          </a:bodyPr>
          <a:lstStyle/>
          <a:p>
            <a:pPr marL="360000" indent="-285750">
              <a:spcBef>
                <a:spcPts val="400"/>
              </a:spcBef>
              <a:buFont typeface="Arial" panose="020B0604020202020204" pitchFamily="34" charset="0"/>
              <a:buChar char="•"/>
            </a:pPr>
            <a:r>
              <a:rPr lang="en-GB" sz="2200" dirty="0" err="1">
                <a:latin typeface="Poppins" panose="020B0604020202020204" charset="0"/>
                <a:cs typeface="Poppins" panose="020B0604020202020204" charset="0"/>
              </a:rPr>
              <a:t>Impor</a:t>
            </a:r>
            <a:r>
              <a:rPr lang="en-GB" sz="2200" dirty="0">
                <a:latin typeface="Poppins" panose="020B0604020202020204" charset="0"/>
                <a:cs typeface="Poppins" panose="020B0604020202020204" charset="0"/>
              </a:rPr>
              <a:t> </a:t>
            </a:r>
            <a:r>
              <a:rPr lang="en-GB" sz="2200" dirty="0" err="1">
                <a:latin typeface="Poppins" panose="020B0604020202020204" charset="0"/>
                <a:cs typeface="Poppins" panose="020B0604020202020204" charset="0"/>
              </a:rPr>
              <a:t>Perpustakaan</a:t>
            </a:r>
            <a:r>
              <a:rPr lang="en-GB" sz="2200" dirty="0">
                <a:latin typeface="Poppins" panose="020B0604020202020204" charset="0"/>
                <a:cs typeface="Poppins" panose="020B0604020202020204" charset="0"/>
              </a:rPr>
              <a:t>
Load Data
</a:t>
            </a:r>
            <a:r>
              <a:rPr lang="en-GB" sz="2200" dirty="0" err="1">
                <a:latin typeface="Poppins" panose="020B0604020202020204" charset="0"/>
                <a:cs typeface="Poppins" panose="020B0604020202020204" charset="0"/>
              </a:rPr>
              <a:t>Eksplorasi</a:t>
            </a:r>
            <a:r>
              <a:rPr lang="en-GB" sz="2200" dirty="0">
                <a:latin typeface="Poppins" panose="020B0604020202020204" charset="0"/>
                <a:cs typeface="Poppins" panose="020B0604020202020204" charset="0"/>
              </a:rPr>
              <a:t> Awal
</a:t>
            </a:r>
            <a:r>
              <a:rPr lang="en-GB" sz="2200" dirty="0" err="1">
                <a:latin typeface="Poppins" panose="020B0604020202020204" charset="0"/>
                <a:cs typeface="Poppins" panose="020B0604020202020204" charset="0"/>
              </a:rPr>
              <a:t>Pra-pemrosesan</a:t>
            </a:r>
            <a:r>
              <a:rPr lang="en-GB" sz="2200" dirty="0">
                <a:latin typeface="Poppins" panose="020B0604020202020204" charset="0"/>
                <a:cs typeface="Poppins" panose="020B0604020202020204" charset="0"/>
              </a:rPr>
              <a:t> &amp; </a:t>
            </a:r>
            <a:r>
              <a:rPr lang="en-GB" sz="2200" dirty="0" err="1">
                <a:latin typeface="Poppins" panose="020B0604020202020204" charset="0"/>
                <a:cs typeface="Poppins" panose="020B0604020202020204" charset="0"/>
              </a:rPr>
              <a:t>Pembersihan</a:t>
            </a:r>
            <a:r>
              <a:rPr lang="en-GB" sz="2200" dirty="0">
                <a:latin typeface="Poppins" panose="020B0604020202020204" charset="0"/>
                <a:cs typeface="Poppins" panose="020B0604020202020204" charset="0"/>
              </a:rPr>
              <a:t>
</a:t>
            </a:r>
            <a:r>
              <a:rPr lang="en-GB" sz="2200" dirty="0" err="1">
                <a:latin typeface="Poppins" panose="020B0604020202020204" charset="0"/>
                <a:cs typeface="Poppins" panose="020B0604020202020204" charset="0"/>
              </a:rPr>
              <a:t>Rekayasa</a:t>
            </a:r>
            <a:r>
              <a:rPr lang="en-GB" sz="2200" dirty="0">
                <a:latin typeface="Poppins" panose="020B0604020202020204" charset="0"/>
                <a:cs typeface="Poppins" panose="020B0604020202020204" charset="0"/>
              </a:rPr>
              <a:t> Fitur
EDA &amp; </a:t>
            </a:r>
            <a:r>
              <a:rPr lang="en-GB" sz="2200" dirty="0" err="1">
                <a:latin typeface="Poppins" panose="020B0604020202020204" charset="0"/>
                <a:cs typeface="Poppins" panose="020B0604020202020204" charset="0"/>
              </a:rPr>
              <a:t>Visualisasi</a:t>
            </a:r>
            <a:r>
              <a:rPr lang="en-GB" sz="2200" dirty="0">
                <a:latin typeface="Poppins" panose="020B0604020202020204" charset="0"/>
                <a:cs typeface="Poppins" panose="020B0604020202020204" charset="0"/>
              </a:rPr>
              <a:t>
</a:t>
            </a:r>
            <a:r>
              <a:rPr lang="en-GB" sz="2200" dirty="0" err="1">
                <a:latin typeface="Poppins" panose="020B0604020202020204" charset="0"/>
                <a:cs typeface="Poppins" panose="020B0604020202020204" charset="0"/>
              </a:rPr>
              <a:t>Wawasan</a:t>
            </a:r>
            <a:r>
              <a:rPr lang="en-GB" sz="2200" dirty="0">
                <a:latin typeface="Poppins" panose="020B0604020202020204" charset="0"/>
                <a:cs typeface="Poppins" panose="020B0604020202020204" charset="0"/>
              </a:rPr>
              <a:t> Utama
</a:t>
            </a:r>
            <a:r>
              <a:rPr lang="en-GB" sz="2200" dirty="0" err="1">
                <a:latin typeface="Poppins" panose="020B0604020202020204" charset="0"/>
                <a:cs typeface="Poppins" panose="020B0604020202020204" charset="0"/>
              </a:rPr>
              <a:t>Rekomendasisssss</a:t>
            </a:r>
            <a:endParaRPr lang="en-IN" sz="2200" dirty="0">
              <a:latin typeface="Poppins" panose="020B0604020202020204" charset="0"/>
              <a:cs typeface="Poppins" panose="020B0604020202020204" charset="0"/>
            </a:endParaRPr>
          </a:p>
        </p:txBody>
      </p:sp>
      <p:sp>
        <p:nvSpPr>
          <p:cNvPr id="13" name="Google Shape;147;p2">
            <a:extLst>
              <a:ext uri="{FF2B5EF4-FFF2-40B4-BE49-F238E27FC236}">
                <a16:creationId xmlns:a16="http://schemas.microsoft.com/office/drawing/2014/main" id="{BF34FB7D-0F60-49E3-91BC-CB2D4866555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a:solidFill>
                  <a:schemeClr val="tx1">
                    <a:lumMod val="75000"/>
                    <a:lumOff val="25000"/>
                  </a:schemeClr>
                </a:solidFill>
                <a:latin typeface="Poppins" panose="020B0604020202020204" charset="0"/>
                <a:cs typeface="Poppins" panose="020B0604020202020204" charset="0"/>
              </a:rPr>
              <a:t>EDA: Proses Langkah demi Langkah</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267025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2042809" y="1958973"/>
            <a:ext cx="7733489" cy="3970318"/>
          </a:xfrm>
          <a:prstGeom prst="rect">
            <a:avLst/>
          </a:prstGeom>
          <a:noFill/>
        </p:spPr>
        <p:txBody>
          <a:bodyPr wrap="square">
            <a:spAutoFit/>
          </a:bodyPr>
          <a:lstStyle/>
          <a:p>
            <a:pPr marL="285750" indent="-285750">
              <a:buFont typeface="Arial" panose="020B0604020202020204" pitchFamily="34" charset="0"/>
              <a:buChar char="•"/>
            </a:pPr>
            <a:r>
              <a:rPr lang="en-IN" sz="1800" dirty="0" err="1"/>
              <a:t>Atur</a:t>
            </a:r>
            <a:r>
              <a:rPr lang="en-IN" sz="1800" dirty="0"/>
              <a:t> baris header </a:t>
            </a:r>
            <a:r>
              <a:rPr lang="en-IN" sz="1800" dirty="0" err="1"/>
              <a:t>untuk</a:t>
            </a:r>
            <a:r>
              <a:rPr lang="en-IN" sz="1800" dirty="0"/>
              <a:t> </a:t>
            </a:r>
            <a:r>
              <a:rPr lang="en-IN" sz="1800" dirty="0" err="1"/>
              <a:t>tabel</a:t>
            </a:r>
            <a:r>
              <a:rPr lang="en-IN" sz="1800" dirty="0"/>
              <a:t> status – region</a:t>
            </a:r>
            <a:br>
              <a:rPr lang="en-IN" sz="1800" dirty="0"/>
            </a:br>
            <a:r>
              <a:rPr lang="en-IN" sz="1800" dirty="0"/>
              <a:t>
</a:t>
            </a:r>
            <a:r>
              <a:rPr lang="en-IN" sz="1800" dirty="0" err="1"/>
              <a:t>Gabungkan</a:t>
            </a:r>
            <a:r>
              <a:rPr lang="en-IN" sz="1800" dirty="0"/>
              <a:t> </a:t>
            </a:r>
            <a:r>
              <a:rPr lang="en-IN" sz="1800" dirty="0" err="1"/>
              <a:t>tabel</a:t>
            </a:r>
            <a:r>
              <a:rPr lang="en-IN" sz="1800" dirty="0"/>
              <a:t> </a:t>
            </a:r>
            <a:r>
              <a:rPr lang="en-IN" sz="1800" dirty="0" err="1"/>
              <a:t>Penjualan</a:t>
            </a:r>
            <a:r>
              <a:rPr lang="en-IN" sz="1800" dirty="0"/>
              <a:t>, </a:t>
            </a:r>
            <a:r>
              <a:rPr lang="en-IN" sz="1800" dirty="0" err="1"/>
              <a:t>Pelanggan</a:t>
            </a:r>
            <a:r>
              <a:rPr lang="en-IN" sz="1800" dirty="0"/>
              <a:t>, </a:t>
            </a:r>
            <a:r>
              <a:rPr lang="en-IN" sz="1800" dirty="0" err="1"/>
              <a:t>Produk</a:t>
            </a:r>
            <a:r>
              <a:rPr lang="en-IN" sz="1800" dirty="0"/>
              <a:t>, Wilayah, Negara Bagian–Wilayah &amp; </a:t>
            </a:r>
            <a:r>
              <a:rPr lang="en-IN" sz="1800" dirty="0" err="1"/>
              <a:t>Anggaran</a:t>
            </a:r>
            <a:br>
              <a:rPr lang="en-IN" sz="1800" dirty="0"/>
            </a:br>
            <a:r>
              <a:rPr lang="en-IN" sz="1800" dirty="0"/>
              <a:t>
Hapus </a:t>
            </a:r>
            <a:r>
              <a:rPr lang="en-IN" sz="1800" dirty="0" err="1"/>
              <a:t>kolom</a:t>
            </a:r>
            <a:r>
              <a:rPr lang="en-IN" sz="1800" dirty="0"/>
              <a:t> yang </a:t>
            </a:r>
            <a:r>
              <a:rPr lang="en-IN" sz="1800" dirty="0" err="1"/>
              <a:t>redundan</a:t>
            </a:r>
            <a:br>
              <a:rPr lang="en-IN" sz="1800" dirty="0"/>
            </a:br>
            <a:r>
              <a:rPr lang="en-IN" sz="1800" dirty="0"/>
              <a:t>
</a:t>
            </a:r>
            <a:r>
              <a:rPr lang="en-IN" sz="1800" dirty="0" err="1"/>
              <a:t>Standarisasi</a:t>
            </a:r>
            <a:r>
              <a:rPr lang="en-IN" sz="1800" dirty="0"/>
              <a:t> </a:t>
            </a:r>
            <a:r>
              <a:rPr lang="en-IN" sz="1800" dirty="0" err="1"/>
              <a:t>nama</a:t>
            </a:r>
            <a:r>
              <a:rPr lang="en-IN" sz="1800" dirty="0"/>
              <a:t> </a:t>
            </a:r>
            <a:r>
              <a:rPr lang="en-IN" sz="1800" dirty="0" err="1"/>
              <a:t>kolom</a:t>
            </a:r>
            <a:r>
              <a:rPr lang="en-IN" sz="1800" dirty="0"/>
              <a:t> </a:t>
            </a:r>
            <a:r>
              <a:rPr lang="en-IN" sz="1800" dirty="0" err="1"/>
              <a:t>menjadi</a:t>
            </a:r>
            <a:r>
              <a:rPr lang="en-IN" sz="1800" dirty="0"/>
              <a:t> </a:t>
            </a:r>
            <a:r>
              <a:rPr lang="en-IN" sz="1800" dirty="0" err="1"/>
              <a:t>huruf</a:t>
            </a:r>
            <a:r>
              <a:rPr lang="en-IN" sz="1800" dirty="0"/>
              <a:t> </a:t>
            </a:r>
            <a:r>
              <a:rPr lang="en-IN" sz="1800" dirty="0" err="1"/>
              <a:t>kecil</a:t>
            </a:r>
            <a:br>
              <a:rPr lang="en-IN" sz="1800" dirty="0"/>
            </a:br>
            <a:r>
              <a:rPr lang="en-IN" sz="1800" dirty="0"/>
              <a:t>
</a:t>
            </a:r>
            <a:r>
              <a:rPr lang="en-IN" sz="1800" dirty="0" err="1"/>
              <a:t>Pilih</a:t>
            </a:r>
            <a:r>
              <a:rPr lang="en-IN" sz="1800" dirty="0"/>
              <a:t> </a:t>
            </a:r>
            <a:r>
              <a:rPr lang="en-IN" sz="1800" dirty="0" err="1"/>
              <a:t>kolom</a:t>
            </a:r>
            <a:r>
              <a:rPr lang="en-IN" sz="1800" dirty="0"/>
              <a:t> </a:t>
            </a:r>
            <a:r>
              <a:rPr lang="en-IN" sz="1800" dirty="0" err="1"/>
              <a:t>kunci</a:t>
            </a:r>
            <a:r>
              <a:rPr lang="en-IN" sz="1800" dirty="0"/>
              <a:t> yang </a:t>
            </a:r>
            <a:r>
              <a:rPr lang="en-IN" sz="1800" dirty="0" err="1"/>
              <a:t>digunakan</a:t>
            </a:r>
            <a:r>
              <a:rPr lang="en-IN" sz="1800" dirty="0"/>
              <a:t> </a:t>
            </a:r>
            <a:r>
              <a:rPr lang="en-IN" sz="1800" dirty="0" err="1"/>
              <a:t>untuk</a:t>
            </a:r>
            <a:r>
              <a:rPr lang="en-IN" sz="1800" dirty="0"/>
              <a:t> </a:t>
            </a:r>
            <a:r>
              <a:rPr lang="en-IN" sz="1800" dirty="0" err="1"/>
              <a:t>analisis</a:t>
            </a:r>
            <a:r>
              <a:rPr lang="en-IN" sz="1800" dirty="0"/>
              <a:t> </a:t>
            </a:r>
            <a:r>
              <a:rPr lang="en-IN" sz="1800" dirty="0" err="1"/>
              <a:t>tersebut</a:t>
            </a:r>
            <a:br>
              <a:rPr lang="en-IN" sz="1800" dirty="0"/>
            </a:br>
            <a:r>
              <a:rPr lang="en-IN" sz="1800" dirty="0"/>
              <a:t>
</a:t>
            </a:r>
            <a:r>
              <a:rPr lang="en-IN" sz="1800" dirty="0" err="1"/>
              <a:t>Ganti</a:t>
            </a:r>
            <a:r>
              <a:rPr lang="en-IN" sz="1800" dirty="0"/>
              <a:t> </a:t>
            </a:r>
            <a:r>
              <a:rPr lang="en-IN" sz="1800" dirty="0" err="1"/>
              <a:t>nama</a:t>
            </a:r>
            <a:r>
              <a:rPr lang="en-IN" sz="1800" dirty="0"/>
              <a:t> </a:t>
            </a:r>
            <a:r>
              <a:rPr lang="en-IN" sz="1800" dirty="0" err="1"/>
              <a:t>kolom</a:t>
            </a:r>
            <a:r>
              <a:rPr lang="en-IN" sz="1800" dirty="0"/>
              <a:t> </a:t>
            </a:r>
            <a:r>
              <a:rPr lang="en-IN" sz="1800" dirty="0" err="1"/>
              <a:t>ke</a:t>
            </a:r>
            <a:r>
              <a:rPr lang="en-IN" sz="1800" dirty="0"/>
              <a:t> </a:t>
            </a:r>
            <a:r>
              <a:rPr lang="en-IN" sz="1800" dirty="0" err="1"/>
              <a:t>nama</a:t>
            </a:r>
            <a:r>
              <a:rPr lang="en-IN" sz="1800" dirty="0"/>
              <a:t> yang </a:t>
            </a:r>
            <a:r>
              <a:rPr lang="en-IN" sz="1800" dirty="0" err="1"/>
              <a:t>lebih</a:t>
            </a:r>
            <a:r>
              <a:rPr lang="en-IN" sz="1800" dirty="0"/>
              <a:t> </a:t>
            </a:r>
            <a:r>
              <a:rPr lang="en-IN" sz="1800" dirty="0" err="1"/>
              <a:t>masuk</a:t>
            </a:r>
            <a:r>
              <a:rPr lang="en-IN" sz="1800" dirty="0"/>
              <a:t> </a:t>
            </a:r>
            <a:r>
              <a:rPr lang="en-IN" sz="1800" dirty="0" err="1"/>
              <a:t>akal</a:t>
            </a:r>
            <a:br>
              <a:rPr lang="en-IN" sz="1800" dirty="0"/>
            </a:br>
            <a:r>
              <a:rPr lang="en-IN" sz="1800" dirty="0"/>
              <a:t>
Buat </a:t>
            </a:r>
            <a:r>
              <a:rPr lang="en-IN" sz="1800" dirty="0" err="1"/>
              <a:t>kolom</a:t>
            </a:r>
            <a:r>
              <a:rPr lang="en-IN" sz="1800" dirty="0"/>
              <a:t> profit dan </a:t>
            </a:r>
            <a:r>
              <a:rPr lang="en-IN" sz="1800" dirty="0" err="1"/>
              <a:t>profit_margin_pct</a:t>
            </a:r>
            <a:endParaRPr lang="en-IN" sz="1800" dirty="0">
              <a:effectLst/>
            </a:endParaRPr>
          </a:p>
        </p:txBody>
      </p:sp>
      <p:sp>
        <p:nvSpPr>
          <p:cNvPr id="3" name="TextBox 2">
            <a:extLst>
              <a:ext uri="{FF2B5EF4-FFF2-40B4-BE49-F238E27FC236}">
                <a16:creationId xmlns:a16="http://schemas.microsoft.com/office/drawing/2014/main" id="{D11DD7E1-D735-401F-B218-8ED3B48C65A2}"/>
              </a:ext>
            </a:extLst>
          </p:cNvPr>
          <p:cNvSpPr txBox="1"/>
          <p:nvPr/>
        </p:nvSpPr>
        <p:spPr>
          <a:xfrm>
            <a:off x="1619396" y="6147435"/>
            <a:ext cx="9816863" cy="400110"/>
          </a:xfrm>
          <a:prstGeom prst="rect">
            <a:avLst/>
          </a:prstGeom>
          <a:noFill/>
        </p:spPr>
        <p:txBody>
          <a:bodyPr wrap="square" rtlCol="0">
            <a:spAutoFit/>
          </a:bodyPr>
          <a:lstStyle/>
          <a:p>
            <a:r>
              <a:rPr lang="sv-SE" sz="2000" i="1" dirty="0"/>
              <a:t>✅ Catatan: Tidak ditemukan nilai yang hilang atau baris duplikat dalam dataset</a:t>
            </a:r>
            <a:endParaRPr lang="en-IN" sz="2000" i="1" dirty="0"/>
          </a:p>
        </p:txBody>
      </p:sp>
      <p:sp>
        <p:nvSpPr>
          <p:cNvPr id="7" name="TextBox 6">
            <a:extLst>
              <a:ext uri="{FF2B5EF4-FFF2-40B4-BE49-F238E27FC236}">
                <a16:creationId xmlns:a16="http://schemas.microsoft.com/office/drawing/2014/main" id="{591D0D7A-30A2-4E0A-9555-F4FA0E347005}"/>
              </a:ext>
            </a:extLst>
          </p:cNvPr>
          <p:cNvSpPr txBox="1"/>
          <p:nvPr/>
        </p:nvSpPr>
        <p:spPr>
          <a:xfrm>
            <a:off x="1226949" y="1210294"/>
            <a:ext cx="10619429" cy="400110"/>
          </a:xfrm>
          <a:prstGeom prst="rect">
            <a:avLst/>
          </a:prstGeom>
          <a:noFill/>
        </p:spPr>
        <p:txBody>
          <a:bodyPr wrap="square" rtlCol="0">
            <a:spAutoFit/>
          </a:bodyPr>
          <a:lstStyle/>
          <a:p>
            <a:r>
              <a:rPr lang="en-GB" sz="2000" dirty="0"/>
              <a:t>Langkah-</a:t>
            </a:r>
            <a:r>
              <a:rPr lang="en-GB" sz="2000" dirty="0" err="1"/>
              <a:t>langkah</a:t>
            </a:r>
            <a:r>
              <a:rPr lang="en-GB" sz="2000" dirty="0"/>
              <a:t> yang </a:t>
            </a:r>
            <a:r>
              <a:rPr lang="en-GB" sz="2000" dirty="0" err="1"/>
              <a:t>diperlukan</a:t>
            </a:r>
            <a:r>
              <a:rPr lang="en-GB" sz="2000" dirty="0"/>
              <a:t> </a:t>
            </a:r>
            <a:r>
              <a:rPr lang="en-GB" sz="2000" dirty="0" err="1"/>
              <a:t>diterapkan</a:t>
            </a:r>
            <a:r>
              <a:rPr lang="en-GB" sz="2000" dirty="0"/>
              <a:t> </a:t>
            </a:r>
            <a:r>
              <a:rPr lang="en-GB" sz="2000" dirty="0" err="1"/>
              <a:t>untuk</a:t>
            </a:r>
            <a:r>
              <a:rPr lang="en-GB" sz="2000" dirty="0"/>
              <a:t> </a:t>
            </a:r>
            <a:r>
              <a:rPr lang="en-GB" sz="2000" dirty="0" err="1"/>
              <a:t>menyiapkan</a:t>
            </a:r>
            <a:r>
              <a:rPr lang="en-GB" sz="2000" dirty="0"/>
              <a:t> dataset </a:t>
            </a:r>
            <a:r>
              <a:rPr lang="en-GB" sz="2000" dirty="0" err="1"/>
              <a:t>ini</a:t>
            </a:r>
            <a:r>
              <a:rPr lang="en-GB" sz="2000" dirty="0"/>
              <a:t> </a:t>
            </a:r>
            <a:r>
              <a:rPr lang="en-GB" sz="2000" dirty="0" err="1"/>
              <a:t>guna</a:t>
            </a:r>
            <a:r>
              <a:rPr lang="en-GB" sz="2000" dirty="0"/>
              <a:t> </a:t>
            </a:r>
            <a:r>
              <a:rPr lang="en-GB" sz="2000" dirty="0" err="1"/>
              <a:t>dianalisis</a:t>
            </a:r>
            <a:r>
              <a:rPr lang="en-GB" sz="2000" dirty="0"/>
              <a:t>.</a:t>
            </a:r>
            <a:endParaRPr lang="en-IN" sz="2000" b="1"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8" name="Google Shape;147;p2">
            <a:extLst>
              <a:ext uri="{FF2B5EF4-FFF2-40B4-BE49-F238E27FC236}">
                <a16:creationId xmlns:a16="http://schemas.microsoft.com/office/drawing/2014/main" id="{164D8012-48E1-47CE-B8A2-61048138E9C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err="1">
                <a:solidFill>
                  <a:schemeClr val="tx1">
                    <a:lumMod val="75000"/>
                    <a:lumOff val="25000"/>
                  </a:schemeClr>
                </a:solidFill>
                <a:latin typeface="Poppins" panose="020B0604020202020204" charset="0"/>
                <a:cs typeface="Poppins" panose="020B0604020202020204" charset="0"/>
              </a:rPr>
              <a:t>Pra-pemrosesan</a:t>
            </a:r>
            <a:r>
              <a:rPr lang="en-GB" sz="3200" dirty="0">
                <a:solidFill>
                  <a:schemeClr val="tx1">
                    <a:lumMod val="75000"/>
                    <a:lumOff val="25000"/>
                  </a:schemeClr>
                </a:solidFill>
                <a:latin typeface="Poppins" panose="020B0604020202020204" charset="0"/>
                <a:cs typeface="Poppins" panose="020B0604020202020204" charset="0"/>
              </a:rPr>
              <a:t> &amp; </a:t>
            </a:r>
            <a:r>
              <a:rPr lang="en-GB" sz="3200" dirty="0" err="1">
                <a:solidFill>
                  <a:schemeClr val="tx1">
                    <a:lumMod val="75000"/>
                    <a:lumOff val="25000"/>
                  </a:schemeClr>
                </a:solidFill>
                <a:latin typeface="Poppins" panose="020B0604020202020204" charset="0"/>
                <a:cs typeface="Poppins" panose="020B0604020202020204" charset="0"/>
              </a:rPr>
              <a:t>Rekayasa</a:t>
            </a:r>
            <a:r>
              <a:rPr lang="en-GB" sz="3200" dirty="0">
                <a:solidFill>
                  <a:schemeClr val="tx1">
                    <a:lumMod val="75000"/>
                    <a:lumOff val="25000"/>
                  </a:schemeClr>
                </a:solidFill>
                <a:latin typeface="Poppins" panose="020B0604020202020204" charset="0"/>
                <a:cs typeface="Poppins" panose="020B0604020202020204" charset="0"/>
              </a:rPr>
              <a:t> Fitur</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3840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pic>
        <p:nvPicPr>
          <p:cNvPr id="5" name="Picture 4">
            <a:extLst>
              <a:ext uri="{FF2B5EF4-FFF2-40B4-BE49-F238E27FC236}">
                <a16:creationId xmlns:a16="http://schemas.microsoft.com/office/drawing/2014/main" id="{CAC7916F-C962-4BB7-BE29-E790E41601C6}"/>
              </a:ext>
            </a:extLst>
          </p:cNvPr>
          <p:cNvPicPr>
            <a:picLocks noChangeAspect="1"/>
          </p:cNvPicPr>
          <p:nvPr/>
        </p:nvPicPr>
        <p:blipFill>
          <a:blip r:embed="rId4"/>
          <a:stretch>
            <a:fillRect/>
          </a:stretch>
        </p:blipFill>
        <p:spPr>
          <a:xfrm>
            <a:off x="115905" y="1944080"/>
            <a:ext cx="11945566" cy="1484920"/>
          </a:xfrm>
          <a:prstGeom prst="rect">
            <a:avLst/>
          </a:prstGeom>
        </p:spPr>
      </p:pic>
      <p:sp>
        <p:nvSpPr>
          <p:cNvPr id="6" name="TextBox 5">
            <a:extLst>
              <a:ext uri="{FF2B5EF4-FFF2-40B4-BE49-F238E27FC236}">
                <a16:creationId xmlns:a16="http://schemas.microsoft.com/office/drawing/2014/main" id="{0A627856-E5B0-45A8-9BC7-DEE02FEFB7BE}"/>
              </a:ext>
            </a:extLst>
          </p:cNvPr>
          <p:cNvSpPr txBox="1"/>
          <p:nvPr/>
        </p:nvSpPr>
        <p:spPr>
          <a:xfrm>
            <a:off x="1507786" y="4124529"/>
            <a:ext cx="9756843" cy="2308324"/>
          </a:xfrm>
          <a:prstGeom prst="rect">
            <a:avLst/>
          </a:prstGeom>
          <a:noFill/>
        </p:spPr>
        <p:txBody>
          <a:bodyPr wrap="square" rtlCol="0">
            <a:spAutoFit/>
          </a:bodyPr>
          <a:lstStyle/>
          <a:p>
            <a:pPr marL="285750" indent="-285750">
              <a:buFont typeface="Arial" panose="020B0604020202020204" pitchFamily="34" charset="0"/>
              <a:buChar char="•"/>
            </a:pPr>
            <a:r>
              <a:rPr lang="en-GB" sz="1600" dirty="0" err="1">
                <a:latin typeface="Poppins" panose="020B0604020202020204" charset="0"/>
                <a:cs typeface="Poppins" panose="020B0604020202020204" charset="0"/>
              </a:rPr>
              <a:t>Pengidentifikasi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order_number</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order_date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customer_name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saluran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product_name</a:t>
            </a:r>
            <a:r>
              <a:rPr lang="en-GB" sz="1600" dirty="0">
                <a:latin typeface="Poppins" panose="020B0604020202020204" charset="0"/>
                <a:cs typeface="Poppins" panose="020B0604020202020204" charset="0"/>
              </a:rPr>
              <a:t> </a:t>
            </a:r>
          </a:p>
          <a:p>
            <a:pPr marL="285750" indent="-285750">
              <a:buFont typeface="Arial" panose="020B0604020202020204" pitchFamily="34" charset="0"/>
              <a:buChar char="•"/>
            </a:pPr>
            <a:endParaRPr lang="en-GB" sz="16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600" dirty="0" err="1">
                <a:latin typeface="Poppins" panose="020B0604020202020204" charset="0"/>
                <a:cs typeface="Poppins" panose="020B0604020202020204" charset="0"/>
              </a:rPr>
              <a:t>Keuangan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kuantitas</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unit_price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pendapatan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biaya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keuntungan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profit_margin_pct</a:t>
            </a:r>
            <a:r>
              <a:rPr lang="en-GB" sz="1600" dirty="0">
                <a:latin typeface="Poppins" panose="020B0604020202020204" charset="0"/>
                <a:cs typeface="Poppins" panose="020B0604020202020204" charset="0"/>
              </a:rPr>
              <a:t>
</a:t>
            </a:r>
          </a:p>
          <a:p>
            <a:pPr marL="285750" indent="-285750">
              <a:buFont typeface="Arial" panose="020B0604020202020204" pitchFamily="34" charset="0"/>
              <a:buChar char="•"/>
            </a:pPr>
            <a:r>
              <a:rPr lang="en-GB" sz="1600" dirty="0" err="1">
                <a:latin typeface="Poppins" panose="020B0604020202020204" charset="0"/>
                <a:cs typeface="Poppins" panose="020B0604020202020204" charset="0"/>
              </a:rPr>
              <a:t>Kalender</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order_month_num</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a:t>
            </a:r>
            <a:r>
              <a:rPr lang="en-GB" sz="1600" dirty="0">
                <a:latin typeface="Poppins" panose="020B0604020202020204" charset="0"/>
                <a:cs typeface="Poppins" panose="020B0604020202020204" charset="0"/>
              </a:rPr>
              <a:t>
</a:t>
            </a:r>
            <a:br>
              <a:rPr lang="en-GB" sz="1600" dirty="0">
                <a:latin typeface="Poppins" panose="020B0604020202020204" charset="0"/>
                <a:cs typeface="Poppins" panose="020B0604020202020204" charset="0"/>
              </a:rPr>
            </a:br>
            <a:r>
              <a:rPr lang="en-GB" sz="1600" dirty="0" err="1">
                <a:latin typeface="Poppins" panose="020B0604020202020204" charset="0"/>
                <a:cs typeface="Poppins" panose="020B0604020202020204" charset="0"/>
              </a:rPr>
              <a:t>Geografi</a:t>
            </a:r>
            <a:r>
              <a:rPr lang="en-GB" sz="1600" dirty="0">
                <a:latin typeface="Poppins" panose="020B0604020202020204" charset="0"/>
                <a:cs typeface="Poppins" panose="020B0604020202020204" charset="0"/>
              </a:rPr>
              <a:t>: negara </a:t>
            </a:r>
            <a:r>
              <a:rPr lang="en-GB" sz="1600" dirty="0" err="1">
                <a:latin typeface="Poppins" panose="020B0604020202020204" charset="0"/>
                <a:cs typeface="Poppins" panose="020B0604020202020204" charset="0"/>
              </a:rPr>
              <a:t>bagian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kode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state_name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us_region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lat</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lon</a:t>
            </a:r>
            <a:r>
              <a:rPr lang="en-GB" sz="1600" dirty="0">
                <a:latin typeface="Poppins" panose="020B0604020202020204" charset="0"/>
                <a:cs typeface="Poppins" panose="020B0604020202020204" charset="0"/>
              </a:rPr>
              <a:t> </a:t>
            </a:r>
          </a:p>
          <a:p>
            <a:pPr marL="285750" indent="-285750">
              <a:buFont typeface="Arial" panose="020B0604020202020204" pitchFamily="34" charset="0"/>
              <a:buChar char="•"/>
            </a:pPr>
            <a:endParaRPr lang="en-GB" sz="16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600" dirty="0" err="1">
                <a:latin typeface="Poppins" panose="020B0604020202020204" charset="0"/>
                <a:cs typeface="Poppins" panose="020B0604020202020204" charset="0"/>
              </a:rPr>
              <a:t>Perencanaan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anggaran</a:t>
            </a:r>
            <a:r>
              <a:rPr lang="en-GB" sz="1600" dirty="0">
                <a:latin typeface="Poppins" panose="020B0604020202020204" charset="0"/>
                <a:cs typeface="Poppins" panose="020B0604020202020204" charset="0"/>
              </a:rPr>
              <a:t> (</a:t>
            </a:r>
            <a:r>
              <a:rPr lang="en-GB" sz="1600">
                <a:latin typeface="Poppins" panose="020B0604020202020204" charset="0"/>
                <a:cs typeface="Poppins" panose="020B0604020202020204" charset="0"/>
              </a:rPr>
              <a:t>2017)</a:t>
            </a:r>
            <a:endParaRPr lang="en-GB" sz="1600" dirty="0">
              <a:latin typeface="Poppins" panose="020B0604020202020204" charset="0"/>
              <a:cs typeface="Poppins" panose="020B0604020202020204" charset="0"/>
            </a:endParaRPr>
          </a:p>
        </p:txBody>
      </p:sp>
      <p:sp>
        <p:nvSpPr>
          <p:cNvPr id="12" name="Google Shape;147;p2">
            <a:extLst>
              <a:ext uri="{FF2B5EF4-FFF2-40B4-BE49-F238E27FC236}">
                <a16:creationId xmlns:a16="http://schemas.microsoft.com/office/drawing/2014/main" id="{E3929227-E3EB-4B33-86BC-AAE4BD37EC3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a:solidFill>
                  <a:schemeClr val="tx1">
                    <a:lumMod val="75000"/>
                    <a:lumOff val="25000"/>
                  </a:schemeClr>
                </a:solidFill>
              </a:rPr>
              <a:t>Struktur Dataset Final – Siap untuk Analisis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25526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2800" b="1">
                <a:solidFill>
                  <a:srgbClr val="FFFFFF"/>
                </a:solidFill>
                <a:latin typeface="Poppins"/>
                <a:ea typeface="Poppins"/>
                <a:cs typeface="Poppins"/>
                <a:sym typeface="Poppins"/>
              </a:rPr>
              <a:t>Grafik &amp; Wawasan</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463643" y="4922754"/>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lvl="0" indent="-285750">
              <a:buSzPts val="1800"/>
              <a:buFont typeface="Arial" panose="020B0604020202020204" pitchFamily="34" charset="0"/>
              <a:buChar char="•"/>
            </a:pPr>
            <a:r>
              <a:rPr lang="en-GB" sz="1600">
                <a:latin typeface="Poppins" panose="020B0604020202020204" charset="0"/>
                <a:cs typeface="Poppins" panose="020B0604020202020204" charset="0"/>
              </a:rPr>
              <a:t>Siklus penjualan yang konsisten: $24M hingga $26M. 
Puncak musiman: Akhir musim semi/awal musim panas (Mei-Juni). 
Terendah tahunan: Januari. 
Pengecualian yang mencolok: Penurunan pendapatan tajam di awal 2017.</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7" name="Google Shape;257;g21197e7cf6e_0_97"/>
          <p:cNvSpPr txBox="1">
            <a:spLocks noGrp="1"/>
          </p:cNvSpPr>
          <p:nvPr>
            <p:ph type="title"/>
          </p:nvPr>
        </p:nvSpPr>
        <p:spPr>
          <a:xfrm>
            <a:off x="291102" y="361419"/>
            <a:ext cx="7190196" cy="984885"/>
          </a:xfrm>
          <a:prstGeom prst="rect">
            <a:avLst/>
          </a:prstGeom>
          <a:solidFill>
            <a:srgbClr val="FFFFFF"/>
          </a:solidFill>
          <a:ln>
            <a:noFill/>
          </a:ln>
        </p:spPr>
        <p:txBody>
          <a:bodyPr spcFirstLastPara="1" wrap="square" lIns="0" tIns="0" rIns="0" bIns="0" anchor="t" anchorCtr="0">
            <a:spAutoFit/>
          </a:bodyPr>
          <a:lstStyle/>
          <a:p>
            <a:pPr lvl="0"/>
            <a:r>
              <a:rPr lang="en-GB" sz="3200" b="0">
                <a:solidFill>
                  <a:schemeClr val="tx1">
                    <a:lumMod val="75000"/>
                    <a:lumOff val="25000"/>
                  </a:schemeClr>
                </a:solidFill>
              </a:rPr>
              <a:t>Tren Penjualan Bulanan dari Waktu ke Waktu</a:t>
            </a:r>
            <a:endParaRPr sz="3200" b="0" dirty="0">
              <a:solidFill>
                <a:schemeClr val="tx1">
                  <a:lumMod val="75000"/>
                  <a:lumOff val="25000"/>
                </a:schemeClr>
              </a:solidFill>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4" name="Group 13">
            <a:extLst>
              <a:ext uri="{FF2B5EF4-FFF2-40B4-BE49-F238E27FC236}">
                <a16:creationId xmlns:a16="http://schemas.microsoft.com/office/drawing/2014/main" id="{0BFA7B0C-328D-4EDB-A17C-F54FE47FDD86}"/>
              </a:ext>
            </a:extLst>
          </p:cNvPr>
          <p:cNvGrpSpPr/>
          <p:nvPr/>
        </p:nvGrpSpPr>
        <p:grpSpPr>
          <a:xfrm>
            <a:off x="868601" y="4782662"/>
            <a:ext cx="1799684" cy="520496"/>
            <a:chOff x="4990288" y="1782720"/>
            <a:chExt cx="1799684" cy="520496"/>
          </a:xfrm>
        </p:grpSpPr>
        <p:pic>
          <p:nvPicPr>
            <p:cNvPr id="15" name="Picture 14">
              <a:extLst>
                <a:ext uri="{FF2B5EF4-FFF2-40B4-BE49-F238E27FC236}">
                  <a16:creationId xmlns:a16="http://schemas.microsoft.com/office/drawing/2014/main" id="{8F670F79-D2A8-476E-BD77-4EA32B290ABE}"/>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6" name="TextBox 15">
              <a:extLst>
                <a:ext uri="{FF2B5EF4-FFF2-40B4-BE49-F238E27FC236}">
                  <a16:creationId xmlns:a16="http://schemas.microsoft.com/office/drawing/2014/main" id="{A3B312F8-AD4E-499D-B00F-38B7B90C600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pic>
        <p:nvPicPr>
          <p:cNvPr id="1030" name="Picture 6">
            <a:extLst>
              <a:ext uri="{FF2B5EF4-FFF2-40B4-BE49-F238E27FC236}">
                <a16:creationId xmlns:a16="http://schemas.microsoft.com/office/drawing/2014/main" id="{DBDEEA6D-F423-7F67-7467-296F69FB5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8849" y="1602286"/>
            <a:ext cx="9812954" cy="3190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531462" y="5291847"/>
            <a:ext cx="7738662" cy="1197475"/>
          </a:xfrm>
          <a:prstGeom prst="rect">
            <a:avLst/>
          </a:prstGeom>
          <a:solidFill>
            <a:schemeClr val="lt1"/>
          </a:solidFill>
          <a:ln>
            <a:noFill/>
          </a:ln>
        </p:spPr>
        <p:txBody>
          <a:bodyPr spcFirstLastPara="1" wrap="square" lIns="91425" tIns="45700" rIns="91425" bIns="45700" anchor="ctr" anchorCtr="0">
            <a:noAutofit/>
          </a:bodyPr>
          <a:lstStyle/>
          <a:p>
            <a:pPr marL="342900" lvl="0" indent="-342900">
              <a:buSzPts val="1800"/>
              <a:buFont typeface="Arial" panose="020B0604020202020204" pitchFamily="34" charset="0"/>
              <a:buChar char="•"/>
            </a:pPr>
            <a:r>
              <a:rPr lang="en-GB" sz="1600">
                <a:latin typeface="Poppins" panose="020B0604020202020204" charset="0"/>
                <a:cs typeface="Poppins" panose="020B0604020202020204" charset="0"/>
              </a:rPr>
              <a:t>Pemimpin pendapatan: Produk 26 &amp; 25 mendominasi. 
Kelas menengah: Produk 5, 13, 14, 15 menunjukkan pendapatan serupa. 
Klaster bawah: Produk 1, 2, 3, 4 memiliki pendapatan terendah. 
Strategi: Tumbuh di tingkat menengah, tingkatkan performa rendah.</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0" name="Group 9">
            <a:extLst>
              <a:ext uri="{FF2B5EF4-FFF2-40B4-BE49-F238E27FC236}">
                <a16:creationId xmlns:a16="http://schemas.microsoft.com/office/drawing/2014/main" id="{6C4A5420-8C8C-4F8F-B704-5EE5DDE8C14D}"/>
              </a:ext>
            </a:extLst>
          </p:cNvPr>
          <p:cNvGrpSpPr/>
          <p:nvPr/>
        </p:nvGrpSpPr>
        <p:grpSpPr>
          <a:xfrm>
            <a:off x="1058368" y="4821788"/>
            <a:ext cx="1799684" cy="520496"/>
            <a:chOff x="4990288" y="1782720"/>
            <a:chExt cx="1799684" cy="520496"/>
          </a:xfrm>
        </p:grpSpPr>
        <p:pic>
          <p:nvPicPr>
            <p:cNvPr id="11" name="Picture 10">
              <a:extLst>
                <a:ext uri="{FF2B5EF4-FFF2-40B4-BE49-F238E27FC236}">
                  <a16:creationId xmlns:a16="http://schemas.microsoft.com/office/drawing/2014/main" id="{952E8B6A-003E-4213-8DB4-5E70B6781E7D}"/>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E85487F4-40E9-4739-9FE1-7936AE5A2DA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72C13FB2-91D7-42CC-9316-95D8F3B6DDDA}"/>
              </a:ext>
            </a:extLst>
          </p:cNvPr>
          <p:cNvSpPr txBox="1">
            <a:spLocks noGrp="1"/>
          </p:cNvSpPr>
          <p:nvPr>
            <p:ph type="title"/>
          </p:nvPr>
        </p:nvSpPr>
        <p:spPr>
          <a:xfrm>
            <a:off x="291102" y="361419"/>
            <a:ext cx="9499284" cy="492443"/>
          </a:xfrm>
          <a:prstGeom prst="rect">
            <a:avLst/>
          </a:prstGeom>
          <a:solidFill>
            <a:srgbClr val="FFFFFF"/>
          </a:solidFill>
          <a:ln>
            <a:noFill/>
          </a:ln>
        </p:spPr>
        <p:txBody>
          <a:bodyPr spcFirstLastPara="1" wrap="square" lIns="0" tIns="0" rIns="0" bIns="0" anchor="t" anchorCtr="0">
            <a:spAutoFit/>
          </a:bodyPr>
          <a:lstStyle/>
          <a:p>
            <a:r>
              <a:rPr lang="sv-SE" sz="3200" b="0">
                <a:solidFill>
                  <a:schemeClr val="tx1">
                    <a:lumMod val="75000"/>
                    <a:lumOff val="25000"/>
                  </a:schemeClr>
                </a:solidFill>
              </a:rPr>
              <a:t>10 Produk Teratas berdasarkan Pendapatan</a:t>
            </a:r>
            <a:endParaRPr lang="en-GB" sz="3200" b="0" dirty="0">
              <a:solidFill>
                <a:schemeClr val="tx1">
                  <a:lumMod val="75000"/>
                  <a:lumOff val="25000"/>
                </a:schemeClr>
              </a:solidFill>
            </a:endParaRPr>
          </a:p>
        </p:txBody>
      </p:sp>
      <p:pic>
        <p:nvPicPr>
          <p:cNvPr id="2050" name="Picture 2">
            <a:extLst>
              <a:ext uri="{FF2B5EF4-FFF2-40B4-BE49-F238E27FC236}">
                <a16:creationId xmlns:a16="http://schemas.microsoft.com/office/drawing/2014/main" id="{498E2BC3-9257-E926-E8E9-1E1F218C9E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1462" y="1069247"/>
            <a:ext cx="846772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48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10" name="Google Shape;249;g21197e7cf6e_0_97">
            <a:extLst>
              <a:ext uri="{FF2B5EF4-FFF2-40B4-BE49-F238E27FC236}">
                <a16:creationId xmlns:a16="http://schemas.microsoft.com/office/drawing/2014/main" id="{57BB1715-3ADB-4068-9B75-EBCA1DB2EA7B}"/>
              </a:ext>
            </a:extLst>
          </p:cNvPr>
          <p:cNvSpPr/>
          <p:nvPr/>
        </p:nvSpPr>
        <p:spPr>
          <a:xfrm>
            <a:off x="1809378" y="5260845"/>
            <a:ext cx="8851159" cy="1292752"/>
          </a:xfrm>
          <a:prstGeom prst="rect">
            <a:avLst/>
          </a:prstGeom>
          <a:solidFill>
            <a:schemeClr val="lt1"/>
          </a:solidFill>
          <a:ln>
            <a:noFill/>
          </a:ln>
        </p:spPr>
        <p:txBody>
          <a:bodyPr spcFirstLastPara="1" wrap="square" lIns="91425" tIns="45700" rIns="91425" bIns="45700" anchor="ctr" anchorCtr="0">
            <a:noAutofit/>
          </a:bodyPr>
          <a:lstStyle/>
          <a:p>
            <a:pPr marL="342900" lvl="0" indent="-342900">
              <a:buSzPts val="1800"/>
              <a:buFont typeface="Arial" panose="020B0604020202020204" pitchFamily="34" charset="0"/>
              <a:buChar char="•"/>
            </a:pPr>
            <a:r>
              <a:rPr lang="en-GB" sz="1600">
                <a:latin typeface="Poppins" panose="020B0604020202020204" charset="0"/>
                <a:cs typeface="Poppins" panose="020B0604020202020204" charset="0"/>
              </a:rPr>
              <a:t>Atas: Produk 18 &amp; 28 memimpin di ~$8,1–8,4K. 
Tingkat berikutnya: Produk 5, 11, 12 &amp; 26 seharga ~$7,5–7,8K. 
Tingkat pemula: Produk 1, 4, 16 &amp; 21 sekitar $7,3K. 
Kesimpulan: 10 besar semuanya melebihi $7,3K—margin yang konsisten tinggi.</a:t>
            </a:r>
            <a:endParaRPr lang="en-GB" sz="1600" dirty="0">
              <a:effectLst/>
              <a:latin typeface="Poppins" panose="020B0604020202020204" charset="0"/>
              <a:cs typeface="Poppins" panose="020B0604020202020204" charset="0"/>
            </a:endParaRPr>
          </a:p>
        </p:txBody>
      </p:sp>
      <p:grpSp>
        <p:nvGrpSpPr>
          <p:cNvPr id="11" name="Group 10">
            <a:extLst>
              <a:ext uri="{FF2B5EF4-FFF2-40B4-BE49-F238E27FC236}">
                <a16:creationId xmlns:a16="http://schemas.microsoft.com/office/drawing/2014/main" id="{B20E552C-11EE-4342-A082-27C9FCCA2AAB}"/>
              </a:ext>
            </a:extLst>
          </p:cNvPr>
          <p:cNvGrpSpPr/>
          <p:nvPr/>
        </p:nvGrpSpPr>
        <p:grpSpPr>
          <a:xfrm>
            <a:off x="1281888" y="4805223"/>
            <a:ext cx="1766112" cy="520496"/>
            <a:chOff x="4990288" y="1782720"/>
            <a:chExt cx="1799684" cy="520496"/>
          </a:xfrm>
        </p:grpSpPr>
        <p:pic>
          <p:nvPicPr>
            <p:cNvPr id="12" name="Picture 11">
              <a:extLst>
                <a:ext uri="{FF2B5EF4-FFF2-40B4-BE49-F238E27FC236}">
                  <a16:creationId xmlns:a16="http://schemas.microsoft.com/office/drawing/2014/main" id="{B0BD83AB-F894-4738-A6D1-2BC07DD393BF}"/>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E4E577FF-B6E4-4310-85D7-17A077CCBC83}"/>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533FE142-A9BF-4047-853C-12E359056733}"/>
              </a:ext>
            </a:extLst>
          </p:cNvPr>
          <p:cNvSpPr txBox="1">
            <a:spLocks/>
          </p:cNvSpPr>
          <p:nvPr/>
        </p:nvSpPr>
        <p:spPr>
          <a:xfrm>
            <a:off x="291102" y="361419"/>
            <a:ext cx="11343850" cy="984885"/>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sv-SE" sz="3200" b="0">
                <a:solidFill>
                  <a:schemeClr val="tx1">
                    <a:lumMod val="75000"/>
                    <a:lumOff val="25000"/>
                  </a:schemeClr>
                </a:solidFill>
              </a:rPr>
              <a:t>10 Produk Teratas berdasarkan Margin Keuntungan Rata-rata</a:t>
            </a:r>
            <a:endParaRPr lang="en-GB" sz="3200" b="0" dirty="0">
              <a:solidFill>
                <a:schemeClr val="tx1">
                  <a:lumMod val="75000"/>
                  <a:lumOff val="25000"/>
                </a:schemeClr>
              </a:solidFill>
            </a:endParaRPr>
          </a:p>
        </p:txBody>
      </p:sp>
      <p:pic>
        <p:nvPicPr>
          <p:cNvPr id="3074" name="Picture 2">
            <a:extLst>
              <a:ext uri="{FF2B5EF4-FFF2-40B4-BE49-F238E27FC236}">
                <a16:creationId xmlns:a16="http://schemas.microsoft.com/office/drawing/2014/main" id="{ED4C988C-CABC-111D-308A-3F730E3CB1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5752" y="1411049"/>
            <a:ext cx="8694549" cy="3469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008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342900" lvl="0" indent="-342900">
              <a:spcBef>
                <a:spcPts val="1500"/>
              </a:spcBef>
              <a:buSzPts val="1800"/>
              <a:buFont typeface="Arial" panose="020B0604020202020204" pitchFamily="34" charset="0"/>
              <a:buChar char="•"/>
            </a:pPr>
            <a:r>
              <a:rPr lang="en-GB" sz="1600" dirty="0">
                <a:effectLst/>
                <a:latin typeface="Poppins" panose="020B0604020202020204" charset="0"/>
                <a:cs typeface="Poppins" panose="020B0604020202020204" charset="0"/>
              </a:rPr>
              <a:t>Wholesale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mendominasi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Menghasilkan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mayoritas</a:t>
            </a:r>
            <a:r>
              <a:rPr lang="en-GB" sz="1600" dirty="0">
                <a:latin typeface="Poppins" panose="020B0604020202020204" charset="0"/>
                <a:cs typeface="Poppins" panose="020B0604020202020204" charset="0"/>
              </a:rPr>
              <a:t> total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sebesar</a:t>
            </a:r>
            <a:r>
              <a:rPr lang="en-GB" sz="1600" dirty="0">
                <a:latin typeface="Poppins" panose="020B0604020202020204" charset="0"/>
                <a:cs typeface="Poppins" panose="020B0604020202020204" charset="0"/>
              </a:rPr>
              <a:t> 54,1%. 
Distributor </a:t>
            </a:r>
            <a:r>
              <a:rPr lang="en-GB" sz="1600" dirty="0" err="1">
                <a:latin typeface="Poppins" panose="020B0604020202020204" charset="0"/>
                <a:cs typeface="Poppins" panose="020B0604020202020204" charset="0"/>
              </a:rPr>
              <a:t>signifikan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Memberikan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kontribusi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substansial</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sebesar</a:t>
            </a:r>
            <a:r>
              <a:rPr lang="en-GB" sz="1600" dirty="0">
                <a:latin typeface="Poppins" panose="020B0604020202020204" charset="0"/>
                <a:cs typeface="Poppins" panose="020B0604020202020204" charset="0"/>
              </a:rPr>
              <a:t> 31,3% </a:t>
            </a:r>
            <a:r>
              <a:rPr lang="en-GB" sz="1600" dirty="0" err="1">
                <a:latin typeface="Poppins" panose="020B0604020202020204" charset="0"/>
                <a:cs typeface="Poppins" panose="020B0604020202020204" charset="0"/>
              </a:rPr>
              <a:t>terhadap</a:t>
            </a:r>
            <a:r>
              <a:rPr lang="en-GB" sz="1600" dirty="0">
                <a:latin typeface="Poppins" panose="020B0604020202020204" charset="0"/>
                <a:cs typeface="Poppins" panose="020B0604020202020204" charset="0"/>
              </a:rPr>
              <a:t> total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Ekspor</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adalah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porsi</a:t>
            </a:r>
            <a:r>
              <a:rPr lang="en-GB" sz="1600" dirty="0">
                <a:latin typeface="Poppins" panose="020B0604020202020204" charset="0"/>
                <a:cs typeface="Poppins" panose="020B0604020202020204" charset="0"/>
              </a:rPr>
              <a:t> yang </a:t>
            </a:r>
            <a:r>
              <a:rPr lang="en-GB" sz="1600" dirty="0" err="1">
                <a:latin typeface="Poppins" panose="020B0604020202020204" charset="0"/>
                <a:cs typeface="Poppins" panose="020B0604020202020204" charset="0"/>
              </a:rPr>
              <a:t>lebih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kecil</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Menyumbang</a:t>
            </a:r>
            <a:r>
              <a:rPr lang="en-GB" sz="1600" dirty="0">
                <a:latin typeface="Poppins" panose="020B0604020202020204" charset="0"/>
                <a:cs typeface="Poppins" panose="020B0604020202020204" charset="0"/>
              </a:rPr>
              <a:t> 14,6% </a:t>
            </a:r>
            <a:r>
              <a:rPr lang="en-GB" sz="1600" dirty="0" err="1">
                <a:latin typeface="Poppins" panose="020B0604020202020204" charset="0"/>
                <a:cs typeface="Poppins" panose="020B0604020202020204" charset="0"/>
              </a:rPr>
              <a:t>dari</a:t>
            </a:r>
            <a:r>
              <a:rPr lang="en-GB" sz="1600" dirty="0">
                <a:latin typeface="Poppins" panose="020B0604020202020204" charset="0"/>
                <a:cs typeface="Poppins" panose="020B0604020202020204" charset="0"/>
              </a:rPr>
              <a:t> total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6" name="Rectangle 5">
            <a:extLst>
              <a:ext uri="{FF2B5EF4-FFF2-40B4-BE49-F238E27FC236}">
                <a16:creationId xmlns:a16="http://schemas.microsoft.com/office/drawing/2014/main" id="{60D155AF-041D-43B8-9DCA-E39F052B3129}"/>
              </a:ext>
            </a:extLst>
          </p:cNvPr>
          <p:cNvSpPr/>
          <p:nvPr/>
        </p:nvSpPr>
        <p:spPr>
          <a:xfrm>
            <a:off x="4941651" y="6089515"/>
            <a:ext cx="2558375" cy="602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75A32C24-E9EC-4693-9074-693E478F1E3A}"/>
              </a:ext>
            </a:extLst>
          </p:cNvPr>
          <p:cNvGrpSpPr/>
          <p:nvPr/>
        </p:nvGrpSpPr>
        <p:grpSpPr>
          <a:xfrm>
            <a:off x="4990288" y="1782720"/>
            <a:ext cx="1799684" cy="520496"/>
            <a:chOff x="4990288" y="1782720"/>
            <a:chExt cx="1799684" cy="520496"/>
          </a:xfrm>
        </p:grpSpPr>
        <p:pic>
          <p:nvPicPr>
            <p:cNvPr id="11" name="Picture 10">
              <a:extLst>
                <a:ext uri="{FF2B5EF4-FFF2-40B4-BE49-F238E27FC236}">
                  <a16:creationId xmlns:a16="http://schemas.microsoft.com/office/drawing/2014/main" id="{9ABDAD06-6C59-43E4-AAB3-6AC01203165E}"/>
                </a:ext>
              </a:extLst>
            </p:cNvPr>
            <p:cNvPicPr>
              <a:picLocks noChangeAspect="1"/>
            </p:cNvPicPr>
            <p:nvPr/>
          </p:nvPicPr>
          <p:blipFill>
            <a:blip r:embed="rId3"/>
            <a:stretch>
              <a:fillRect/>
            </a:stretch>
          </p:blipFill>
          <p:spPr>
            <a:xfrm>
              <a:off x="4990288" y="1782720"/>
              <a:ext cx="520496" cy="520496"/>
            </a:xfrm>
            <a:prstGeom prst="rect">
              <a:avLst/>
            </a:prstGeom>
          </p:spPr>
        </p:pic>
        <p:sp>
          <p:nvSpPr>
            <p:cNvPr id="7" name="TextBox 6">
              <a:extLst>
                <a:ext uri="{FF2B5EF4-FFF2-40B4-BE49-F238E27FC236}">
                  <a16:creationId xmlns:a16="http://schemas.microsoft.com/office/drawing/2014/main" id="{B1B59B4E-EA7A-4C3D-9847-3CC57FA9A9E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D5F37530-F693-4DEA-9195-52EBC3A2DFE9}"/>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Sales by Channel</a:t>
            </a:r>
          </a:p>
        </p:txBody>
      </p:sp>
      <p:pic>
        <p:nvPicPr>
          <p:cNvPr id="4098" name="Picture 2">
            <a:extLst>
              <a:ext uri="{FF2B5EF4-FFF2-40B4-BE49-F238E27FC236}">
                <a16:creationId xmlns:a16="http://schemas.microsoft.com/office/drawing/2014/main" id="{4732E6ED-45A2-E1B6-93E0-E6C7B2038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18" y="1420959"/>
            <a:ext cx="4600575" cy="462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79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806144" y="5208052"/>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lvl="0" indent="-285750">
              <a:buSzPts val="1800"/>
              <a:buFont typeface="Arial" panose="020B0604020202020204" pitchFamily="34" charset="0"/>
              <a:buChar char="•"/>
            </a:pPr>
            <a:r>
              <a:rPr lang="en-GB" sz="1600" dirty="0" err="1">
                <a:latin typeface="Poppins" panose="020B0604020202020204" charset="0"/>
                <a:cs typeface="Poppins" panose="020B0604020202020204" charset="0"/>
              </a:rPr>
              <a:t>Prospek</a:t>
            </a:r>
            <a:r>
              <a:rPr lang="en-GB" sz="1600" dirty="0">
                <a:latin typeface="Poppins" panose="020B0604020202020204" charset="0"/>
                <a:cs typeface="Poppins" panose="020B0604020202020204" charset="0"/>
              </a:rPr>
              <a:t> California: Total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tertinggi</a:t>
            </a:r>
            <a:r>
              <a:rPr lang="en-GB" sz="1600" dirty="0">
                <a:latin typeface="Poppins" panose="020B0604020202020204" charset="0"/>
                <a:cs typeface="Poppins" panose="020B0604020202020204" charset="0"/>
              </a:rPr>
              <a:t>. 
Texas, Florida, Illinois: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signifikan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bervariasi</a:t>
            </a:r>
            <a:r>
              <a:rPr lang="en-GB" sz="1600" dirty="0">
                <a:latin typeface="Poppins" panose="020B0604020202020204" charset="0"/>
                <a:cs typeface="Poppins" panose="020B0604020202020204" charset="0"/>
              </a:rPr>
              <a:t>: Negara </a:t>
            </a:r>
            <a:r>
              <a:rPr lang="en-GB" sz="1600" dirty="0" err="1">
                <a:latin typeface="Poppins" panose="020B0604020202020204" charset="0"/>
                <a:cs typeface="Poppins" panose="020B0604020202020204" charset="0"/>
              </a:rPr>
              <a:t>bagian</a:t>
            </a:r>
            <a:r>
              <a:rPr lang="en-GB" sz="1600" dirty="0">
                <a:latin typeface="Poppins" panose="020B0604020202020204" charset="0"/>
                <a:cs typeface="Poppins" panose="020B0604020202020204" charset="0"/>
              </a:rPr>
              <a:t> lain </a:t>
            </a:r>
            <a:r>
              <a:rPr lang="en-GB" sz="1600" dirty="0" err="1">
                <a:latin typeface="Poppins" panose="020B0604020202020204" charset="0"/>
                <a:cs typeface="Poppins" panose="020B0604020202020204" charset="0"/>
              </a:rPr>
              <a:t>menunjukkan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sedang</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hingga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rendah</a:t>
            </a:r>
            <a:r>
              <a:rPr lang="en-GB" sz="1600" dirty="0">
                <a:latin typeface="Poppins" panose="020B0604020202020204" charset="0"/>
                <a:cs typeface="Poppins" panose="020B0604020202020204" charset="0"/>
              </a:rPr>
              <a:t>. 
Pola visual: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lebih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tinggi</a:t>
            </a:r>
            <a:r>
              <a:rPr lang="en-GB" sz="1600" dirty="0">
                <a:latin typeface="Poppins" panose="020B0604020202020204" charset="0"/>
                <a:cs typeface="Poppins" panose="020B0604020202020204" charset="0"/>
              </a:rPr>
              <a:t> di negara </a:t>
            </a:r>
            <a:r>
              <a:rPr lang="en-GB" sz="1600" dirty="0" err="1">
                <a:latin typeface="Poppins" panose="020B0604020202020204" charset="0"/>
                <a:cs typeface="Poppins" panose="020B0604020202020204" charset="0"/>
              </a:rPr>
              <a:t>bagian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besar</a:t>
            </a:r>
            <a:r>
              <a:rPr lang="en-GB" sz="1600" dirty="0">
                <a:latin typeface="Poppins" panose="020B0604020202020204" charset="0"/>
                <a:cs typeface="Poppins" panose="020B0604020202020204" charset="0"/>
              </a:rPr>
              <a:t> dan </a:t>
            </a:r>
            <a:r>
              <a:rPr lang="en-GB" sz="1600" dirty="0" err="1">
                <a:latin typeface="Poppins" panose="020B0604020202020204" charset="0"/>
                <a:cs typeface="Poppins" panose="020B0604020202020204" charset="0"/>
              </a:rPr>
              <a:t>beberapa</a:t>
            </a:r>
            <a:r>
              <a:rPr lang="en-GB" sz="1600" dirty="0">
                <a:latin typeface="Poppins" panose="020B0604020202020204" charset="0"/>
                <a:cs typeface="Poppins" panose="020B0604020202020204" charset="0"/>
              </a:rPr>
              <a:t> negara </a:t>
            </a:r>
            <a:r>
              <a:rPr lang="en-GB" sz="1600" dirty="0" err="1">
                <a:latin typeface="Poppins" panose="020B0604020202020204" charset="0"/>
                <a:cs typeface="Poppins" panose="020B0604020202020204" charset="0"/>
              </a:rPr>
              <a:t>bagian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pesisir</a:t>
            </a:r>
            <a:r>
              <a:rPr lang="en-GB" sz="1600" dirty="0">
                <a:latin typeface="Poppins" panose="020B0604020202020204" charset="0"/>
                <a:cs typeface="Poppins" panose="020B0604020202020204" charset="0"/>
              </a:rPr>
              <a:t>.</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F019706A-0C71-44DD-B7D5-B0FFD71ECD97}"/>
              </a:ext>
            </a:extLst>
          </p:cNvPr>
          <p:cNvPicPr>
            <a:picLocks noChangeAspect="1"/>
          </p:cNvPicPr>
          <p:nvPr/>
        </p:nvPicPr>
        <p:blipFill>
          <a:blip r:embed="rId3"/>
          <a:stretch>
            <a:fillRect/>
          </a:stretch>
        </p:blipFill>
        <p:spPr>
          <a:xfrm>
            <a:off x="1835244" y="1039518"/>
            <a:ext cx="5582715" cy="3491375"/>
          </a:xfrm>
          <a:prstGeom prst="rect">
            <a:avLst/>
          </a:prstGeom>
        </p:spPr>
      </p:pic>
      <p:pic>
        <p:nvPicPr>
          <p:cNvPr id="7" name="Picture 6">
            <a:extLst>
              <a:ext uri="{FF2B5EF4-FFF2-40B4-BE49-F238E27FC236}">
                <a16:creationId xmlns:a16="http://schemas.microsoft.com/office/drawing/2014/main" id="{A0FEEE11-F6B1-4A79-B0CD-00E13E4CBCFE}"/>
              </a:ext>
            </a:extLst>
          </p:cNvPr>
          <p:cNvPicPr>
            <a:picLocks noChangeAspect="1"/>
          </p:cNvPicPr>
          <p:nvPr/>
        </p:nvPicPr>
        <p:blipFill>
          <a:blip r:embed="rId4"/>
          <a:stretch>
            <a:fillRect/>
          </a:stretch>
        </p:blipFill>
        <p:spPr>
          <a:xfrm>
            <a:off x="8064998" y="1039518"/>
            <a:ext cx="869101" cy="3580941"/>
          </a:xfrm>
          <a:prstGeom prst="rect">
            <a:avLst/>
          </a:prstGeom>
        </p:spPr>
      </p:pic>
      <p:grpSp>
        <p:nvGrpSpPr>
          <p:cNvPr id="12" name="Group 11">
            <a:extLst>
              <a:ext uri="{FF2B5EF4-FFF2-40B4-BE49-F238E27FC236}">
                <a16:creationId xmlns:a16="http://schemas.microsoft.com/office/drawing/2014/main" id="{FB529DE5-AD5B-4A7E-ACA0-E8C1B4F5D534}"/>
              </a:ext>
            </a:extLst>
          </p:cNvPr>
          <p:cNvGrpSpPr/>
          <p:nvPr/>
        </p:nvGrpSpPr>
        <p:grpSpPr>
          <a:xfrm>
            <a:off x="1314748" y="4815847"/>
            <a:ext cx="1799684" cy="520496"/>
            <a:chOff x="4990288" y="1782720"/>
            <a:chExt cx="1799684" cy="520496"/>
          </a:xfrm>
        </p:grpSpPr>
        <p:pic>
          <p:nvPicPr>
            <p:cNvPr id="13" name="Picture 12">
              <a:extLst>
                <a:ext uri="{FF2B5EF4-FFF2-40B4-BE49-F238E27FC236}">
                  <a16:creationId xmlns:a16="http://schemas.microsoft.com/office/drawing/2014/main" id="{4811A562-8C23-4D3F-8084-9B45B155E9CB}"/>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4" name="TextBox 13">
              <a:extLst>
                <a:ext uri="{FF2B5EF4-FFF2-40B4-BE49-F238E27FC236}">
                  <a16:creationId xmlns:a16="http://schemas.microsoft.com/office/drawing/2014/main" id="{7D84E2AC-8429-4100-ABE2-2D72B51BE836}"/>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5" name="Google Shape;257;g21197e7cf6e_0_97">
            <a:extLst>
              <a:ext uri="{FF2B5EF4-FFF2-40B4-BE49-F238E27FC236}">
                <a16:creationId xmlns:a16="http://schemas.microsoft.com/office/drawing/2014/main" id="{DC1D2DAE-D83F-41B3-BA9B-429DF6D664CC}"/>
              </a:ext>
            </a:extLst>
          </p:cNvPr>
          <p:cNvSpPr txBox="1">
            <a:spLocks/>
          </p:cNvSpPr>
          <p:nvPr/>
        </p:nvSpPr>
        <p:spPr>
          <a:xfrm>
            <a:off x="291102" y="361419"/>
            <a:ext cx="11517270" cy="461665"/>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000" b="0" dirty="0">
                <a:solidFill>
                  <a:schemeClr val="tx1">
                    <a:lumMod val="75000"/>
                    <a:lumOff val="25000"/>
                  </a:schemeClr>
                </a:solidFill>
              </a:rPr>
              <a:t>Total </a:t>
            </a:r>
            <a:r>
              <a:rPr lang="en-GB" sz="3000" b="0" dirty="0" err="1">
                <a:solidFill>
                  <a:schemeClr val="tx1">
                    <a:lumMod val="75000"/>
                    <a:lumOff val="25000"/>
                  </a:schemeClr>
                </a:solidFill>
              </a:rPr>
              <a:t>penjualan</a:t>
            </a:r>
            <a:r>
              <a:rPr lang="en-GB" sz="3000" b="0" dirty="0">
                <a:solidFill>
                  <a:schemeClr val="tx1">
                    <a:lumMod val="75000"/>
                    <a:lumOff val="25000"/>
                  </a:schemeClr>
                </a:solidFill>
              </a:rPr>
              <a:t> </a:t>
            </a:r>
            <a:r>
              <a:rPr lang="en-GB" sz="3000" b="0" dirty="0" err="1">
                <a:solidFill>
                  <a:schemeClr val="tx1">
                    <a:lumMod val="75000"/>
                    <a:lumOff val="25000"/>
                  </a:schemeClr>
                </a:solidFill>
              </a:rPr>
              <a:t>menurut</a:t>
            </a:r>
            <a:r>
              <a:rPr lang="en-GB" sz="3000" b="0" dirty="0">
                <a:solidFill>
                  <a:schemeClr val="tx1">
                    <a:lumMod val="75000"/>
                    <a:lumOff val="25000"/>
                  </a:schemeClr>
                </a:solidFill>
              </a:rPr>
              <a:t> negara </a:t>
            </a:r>
            <a:r>
              <a:rPr lang="en-GB" sz="3000" b="0" dirty="0" err="1">
                <a:solidFill>
                  <a:schemeClr val="tx1">
                    <a:lumMod val="75000"/>
                    <a:lumOff val="25000"/>
                  </a:schemeClr>
                </a:solidFill>
              </a:rPr>
              <a:t>bagian</a:t>
            </a:r>
            <a:r>
              <a:rPr lang="en-GB" sz="3000" b="0" dirty="0">
                <a:solidFill>
                  <a:schemeClr val="tx1">
                    <a:lumMod val="75000"/>
                    <a:lumOff val="25000"/>
                  </a:schemeClr>
                </a:solidFill>
              </a:rPr>
              <a:t> (Peta Choropleth)</a:t>
            </a:r>
          </a:p>
        </p:txBody>
      </p:sp>
    </p:spTree>
    <p:extLst>
      <p:ext uri="{BB962C8B-B14F-4D97-AF65-F5344CB8AC3E}">
        <p14:creationId xmlns:p14="http://schemas.microsoft.com/office/powerpoint/2010/main" val="371002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4513634"/>
            <a:ext cx="8588483" cy="2053877"/>
          </a:xfrm>
          <a:prstGeom prst="rect">
            <a:avLst/>
          </a:prstGeom>
          <a:solidFill>
            <a:schemeClr val="lt1"/>
          </a:solidFill>
          <a:ln>
            <a:noFill/>
          </a:ln>
        </p:spPr>
        <p:txBody>
          <a:bodyPr spcFirstLastPara="1" wrap="square" lIns="91425" tIns="45700" rIns="91425" bIns="45700" anchor="ctr" anchorCtr="0">
            <a:noAutofit/>
          </a:bodyPr>
          <a:lstStyle/>
          <a:p>
            <a:pPr marL="285750" lvl="0" indent="-285750">
              <a:buSzPts val="1800"/>
              <a:buFont typeface="Arial" panose="020B0604020202020204" pitchFamily="34" charset="0"/>
              <a:buChar char="•"/>
            </a:pPr>
            <a:r>
              <a:rPr lang="en-GB" sz="1600" dirty="0">
                <a:latin typeface="Poppins" panose="020B0604020202020204" charset="0"/>
                <a:cs typeface="Poppins" panose="020B0604020202020204" charset="0"/>
              </a:rPr>
              <a:t>West: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tertinggi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pengaruh</a:t>
            </a:r>
            <a:r>
              <a:rPr lang="en-GB" sz="1600" dirty="0">
                <a:latin typeface="Poppins" panose="020B0604020202020204" charset="0"/>
                <a:cs typeface="Poppins" panose="020B0604020202020204" charset="0"/>
              </a:rPr>
              <a:t> pasar yang </a:t>
            </a:r>
            <a:r>
              <a:rPr lang="en-GB" sz="1600" dirty="0" err="1">
                <a:latin typeface="Poppins" panose="020B0604020202020204" charset="0"/>
                <a:cs typeface="Poppins" panose="020B0604020202020204" charset="0"/>
              </a:rPr>
              <a:t>kuat</a:t>
            </a:r>
            <a:r>
              <a:rPr lang="en-GB" sz="1600" dirty="0">
                <a:latin typeface="Poppins" panose="020B0604020202020204" charset="0"/>
                <a:cs typeface="Poppins" panose="020B0604020202020204" charset="0"/>
              </a:rPr>
              <a:t>. 
South: </a:t>
            </a:r>
            <a:r>
              <a:rPr lang="en-GB" sz="1600" dirty="0" err="1">
                <a:latin typeface="Poppins" panose="020B0604020202020204" charset="0"/>
                <a:cs typeface="Poppins" panose="020B0604020202020204" charset="0"/>
              </a:rPr>
              <a:t>Kontributor</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utama</a:t>
            </a:r>
            <a:r>
              <a:rPr lang="en-GB" sz="1600" dirty="0">
                <a:latin typeface="Poppins" panose="020B0604020202020204" charset="0"/>
                <a:cs typeface="Poppins" panose="020B0604020202020204" charset="0"/>
              </a:rPr>
              <a:t>, area pasar </a:t>
            </a:r>
            <a:r>
              <a:rPr lang="en-GB" sz="1600" dirty="0" err="1">
                <a:latin typeface="Poppins" panose="020B0604020202020204" charset="0"/>
                <a:cs typeface="Poppins" panose="020B0604020202020204" charset="0"/>
              </a:rPr>
              <a:t>utama</a:t>
            </a:r>
            <a:r>
              <a:rPr lang="en-GB" sz="1600" dirty="0">
                <a:latin typeface="Poppins" panose="020B0604020202020204" charset="0"/>
                <a:cs typeface="Poppins" panose="020B0604020202020204" charset="0"/>
              </a:rPr>
              <a:t>. 
Midwest: Kinerja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stabil</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ukuran</a:t>
            </a:r>
            <a:r>
              <a:rPr lang="en-GB" sz="1600" dirty="0">
                <a:latin typeface="Poppins" panose="020B0604020202020204" charset="0"/>
                <a:cs typeface="Poppins" panose="020B0604020202020204" charset="0"/>
              </a:rPr>
              <a:t> pasar </a:t>
            </a:r>
            <a:r>
              <a:rPr lang="en-GB" sz="1600" dirty="0" err="1">
                <a:latin typeface="Poppins" panose="020B0604020202020204" charset="0"/>
                <a:cs typeface="Poppins" panose="020B0604020202020204" charset="0"/>
              </a:rPr>
              <a:t>sedang</a:t>
            </a:r>
            <a:r>
              <a:rPr lang="en-GB" sz="1600" dirty="0">
                <a:latin typeface="Poppins" panose="020B0604020202020204" charset="0"/>
                <a:cs typeface="Poppins" panose="020B0604020202020204" charset="0"/>
              </a:rPr>
              <a:t>. 
Northeast: </a:t>
            </a:r>
            <a:r>
              <a:rPr lang="en-GB" sz="1600" dirty="0" err="1">
                <a:latin typeface="Poppins" panose="020B0604020202020204" charset="0"/>
                <a:cs typeface="Poppins" panose="020B0604020202020204" charset="0"/>
              </a:rPr>
              <a:t>Penjualan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terendah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menunjukkan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perlunya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pemahaman</a:t>
            </a:r>
            <a:r>
              <a:rPr lang="en-GB" sz="1600" dirty="0">
                <a:latin typeface="Poppins" panose="020B0604020202020204" charset="0"/>
                <a:cs typeface="Poppins" panose="020B0604020202020204" charset="0"/>
              </a:rPr>
              <a:t> pasar yang </a:t>
            </a:r>
            <a:r>
              <a:rPr lang="en-GB" sz="1600" dirty="0" err="1">
                <a:latin typeface="Poppins" panose="020B0604020202020204" charset="0"/>
                <a:cs typeface="Poppins" panose="020B0604020202020204" charset="0"/>
              </a:rPr>
              <a:t>lebih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dalam</a:t>
            </a:r>
            <a:r>
              <a:rPr lang="en-GB" sz="1600" dirty="0">
                <a:latin typeface="Poppins" panose="020B0604020202020204" charset="0"/>
                <a:cs typeface="Poppins" panose="020B0604020202020204" charset="0"/>
              </a:rPr>
              <a:t>.</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1" name="Group 10">
            <a:extLst>
              <a:ext uri="{FF2B5EF4-FFF2-40B4-BE49-F238E27FC236}">
                <a16:creationId xmlns:a16="http://schemas.microsoft.com/office/drawing/2014/main" id="{63B97E8D-6AB6-47D6-B7BE-022EAFDCB715}"/>
              </a:ext>
            </a:extLst>
          </p:cNvPr>
          <p:cNvGrpSpPr/>
          <p:nvPr/>
        </p:nvGrpSpPr>
        <p:grpSpPr>
          <a:xfrm>
            <a:off x="1139648" y="4426329"/>
            <a:ext cx="1799684" cy="520496"/>
            <a:chOff x="4990288" y="1782720"/>
            <a:chExt cx="1799684" cy="520496"/>
          </a:xfrm>
        </p:grpSpPr>
        <p:pic>
          <p:nvPicPr>
            <p:cNvPr id="12" name="Picture 11">
              <a:extLst>
                <a:ext uri="{FF2B5EF4-FFF2-40B4-BE49-F238E27FC236}">
                  <a16:creationId xmlns:a16="http://schemas.microsoft.com/office/drawing/2014/main" id="{2AE2EE14-4869-439A-95FA-38CFD24206CA}"/>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478E7F2E-8BD3-4E70-9CD7-9C1A3255C0C0}"/>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A6A7C502-D0D1-4F88-90F1-186C62EBA5B2}"/>
              </a:ext>
            </a:extLst>
          </p:cNvPr>
          <p:cNvSpPr txBox="1">
            <a:spLocks/>
          </p:cNvSpPr>
          <p:nvPr/>
        </p:nvSpPr>
        <p:spPr>
          <a:xfrm>
            <a:off x="291102" y="361419"/>
            <a:ext cx="8001560"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200" b="0">
                <a:solidFill>
                  <a:schemeClr val="tx1">
                    <a:lumMod val="75000"/>
                    <a:lumOff val="25000"/>
                  </a:schemeClr>
                </a:solidFill>
              </a:rPr>
              <a:t>Total Penjualan menurut Wilayah AS</a:t>
            </a:r>
            <a:endParaRPr lang="en-GB" sz="3200" b="0" dirty="0">
              <a:solidFill>
                <a:schemeClr val="tx1">
                  <a:lumMod val="75000"/>
                  <a:lumOff val="25000"/>
                </a:schemeClr>
              </a:solidFill>
            </a:endParaRPr>
          </a:p>
        </p:txBody>
      </p:sp>
      <p:pic>
        <p:nvPicPr>
          <p:cNvPr id="5122" name="Picture 2">
            <a:extLst>
              <a:ext uri="{FF2B5EF4-FFF2-40B4-BE49-F238E27FC236}">
                <a16:creationId xmlns:a16="http://schemas.microsoft.com/office/drawing/2014/main" id="{E672EF02-43AF-5F86-C312-EF9A71F1E6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964" y="929444"/>
            <a:ext cx="9420225" cy="3302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396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80163" y="4867034"/>
            <a:ext cx="8012558" cy="1825163"/>
          </a:xfrm>
          <a:prstGeom prst="rect">
            <a:avLst/>
          </a:prstGeom>
          <a:solidFill>
            <a:schemeClr val="lt1"/>
          </a:solidFill>
          <a:ln>
            <a:noFill/>
          </a:ln>
        </p:spPr>
        <p:txBody>
          <a:bodyPr spcFirstLastPara="1" wrap="square" lIns="91425" tIns="45700" rIns="91425" bIns="45700" anchor="ctr" anchorCtr="0">
            <a:noAutofit/>
          </a:bodyPr>
          <a:lstStyle/>
          <a:p>
            <a:pPr marL="285750" lvl="0" indent="-285750">
              <a:spcBef>
                <a:spcPts val="1500"/>
              </a:spcBef>
              <a:buSzPts val="1800"/>
              <a:buFont typeface="Arial" panose="020B0604020202020204" pitchFamily="34" charset="0"/>
              <a:buChar char="•"/>
            </a:pPr>
            <a:r>
              <a:rPr lang="en-GB" sz="1600" dirty="0">
                <a:latin typeface="Poppins" panose="020B0604020202020204" charset="0"/>
                <a:cs typeface="Poppins" panose="020B0604020202020204" charset="0"/>
              </a:rPr>
              <a:t>Nilai </a:t>
            </a:r>
            <a:r>
              <a:rPr lang="en-GB" sz="1600" dirty="0" err="1">
                <a:latin typeface="Poppins" panose="020B0604020202020204" charset="0"/>
                <a:cs typeface="Poppins" panose="020B0604020202020204" charset="0"/>
              </a:rPr>
              <a:t>pesanan</a:t>
            </a:r>
            <a:r>
              <a:rPr lang="en-GB" sz="1600" dirty="0">
                <a:latin typeface="Poppins" panose="020B0604020202020204" charset="0"/>
                <a:cs typeface="Poppins" panose="020B0604020202020204" charset="0"/>
              </a:rPr>
              <a:t> rata-rata </a:t>
            </a:r>
            <a:r>
              <a:rPr lang="en-GB" sz="1600" dirty="0" err="1">
                <a:latin typeface="Poppins" panose="020B0604020202020204" charset="0"/>
                <a:cs typeface="Poppins" panose="020B0604020202020204" charset="0"/>
              </a:rPr>
              <a:t>rendah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sering</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terjadi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Distribusi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bersifat</a:t>
            </a:r>
            <a:r>
              <a:rPr lang="en-GB" sz="1600" dirty="0">
                <a:latin typeface="Poppins" panose="020B0604020202020204" charset="0"/>
                <a:cs typeface="Poppins" panose="020B0604020202020204" charset="0"/>
              </a:rPr>
              <a:t> right-skewed (</a:t>
            </a:r>
            <a:r>
              <a:rPr lang="en-GB" sz="1600" dirty="0" err="1">
                <a:latin typeface="Poppins" panose="020B0604020202020204" charset="0"/>
                <a:cs typeface="Poppins" panose="020B0604020202020204" charset="0"/>
              </a:rPr>
              <a:t>ekor</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panjang</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dari</a:t>
            </a:r>
            <a:r>
              <a:rPr lang="en-GB" sz="1600" dirty="0">
                <a:latin typeface="Poppins" panose="020B0604020202020204" charset="0"/>
                <a:cs typeface="Poppins" panose="020B0604020202020204" charset="0"/>
              </a:rPr>
              <a:t> ordo </a:t>
            </a:r>
            <a:r>
              <a:rPr lang="en-GB" sz="1600" dirty="0" err="1">
                <a:latin typeface="Poppins" panose="020B0604020202020204" charset="0"/>
                <a:cs typeface="Poppins" panose="020B0604020202020204" charset="0"/>
              </a:rPr>
              <a:t>bernilai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tinggi</a:t>
            </a:r>
            <a:r>
              <a:rPr lang="en-GB" sz="1600" dirty="0">
                <a:latin typeface="Poppins" panose="020B0604020202020204" charset="0"/>
                <a:cs typeface="Poppins" panose="020B0604020202020204" charset="0"/>
              </a:rPr>
              <a:t>). 
Ada </a:t>
            </a:r>
            <a:r>
              <a:rPr lang="en-GB" sz="1600" dirty="0" err="1">
                <a:latin typeface="Poppins" panose="020B0604020202020204" charset="0"/>
                <a:cs typeface="Poppins" panose="020B0604020202020204" charset="0"/>
              </a:rPr>
              <a:t>beberapa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klaster</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nilai</a:t>
            </a:r>
            <a:r>
              <a:rPr lang="en-GB" sz="1600" dirty="0">
                <a:latin typeface="Poppins" panose="020B0604020202020204" charset="0"/>
                <a:cs typeface="Poppins" panose="020B0604020202020204" charset="0"/>
              </a:rPr>
              <a:t> order. 
Nilai </a:t>
            </a:r>
            <a:r>
              <a:rPr lang="en-GB" sz="1600" dirty="0" err="1">
                <a:latin typeface="Poppins" panose="020B0604020202020204" charset="0"/>
                <a:cs typeface="Poppins" panose="020B0604020202020204" charset="0"/>
              </a:rPr>
              <a:t>orde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lebih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tinggi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lebih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jarang</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terjadi</a:t>
            </a:r>
            <a:r>
              <a:rPr lang="en-GB" sz="1600" dirty="0">
                <a:latin typeface="Poppins" panose="020B0604020202020204" charset="0"/>
                <a:cs typeface="Poppins" panose="020B0604020202020204" charset="0"/>
              </a:rPr>
              <a:t>.</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0" name="Group 9">
            <a:extLst>
              <a:ext uri="{FF2B5EF4-FFF2-40B4-BE49-F238E27FC236}">
                <a16:creationId xmlns:a16="http://schemas.microsoft.com/office/drawing/2014/main" id="{4950C65A-5879-4F24-90B5-64366282F28B}"/>
              </a:ext>
            </a:extLst>
          </p:cNvPr>
          <p:cNvGrpSpPr/>
          <p:nvPr/>
        </p:nvGrpSpPr>
        <p:grpSpPr>
          <a:xfrm>
            <a:off x="1210768" y="4449930"/>
            <a:ext cx="1799684" cy="520496"/>
            <a:chOff x="4990288" y="1782720"/>
            <a:chExt cx="1799684" cy="520496"/>
          </a:xfrm>
        </p:grpSpPr>
        <p:pic>
          <p:nvPicPr>
            <p:cNvPr id="11" name="Picture 10">
              <a:extLst>
                <a:ext uri="{FF2B5EF4-FFF2-40B4-BE49-F238E27FC236}">
                  <a16:creationId xmlns:a16="http://schemas.microsoft.com/office/drawing/2014/main" id="{7F378D8A-AA79-4779-ABD5-0E33DF2044A1}"/>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AD355348-2153-4E05-AB5A-3DD90DEBF1A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Google Shape;257;g21197e7cf6e_0_97">
            <a:extLst>
              <a:ext uri="{FF2B5EF4-FFF2-40B4-BE49-F238E27FC236}">
                <a16:creationId xmlns:a16="http://schemas.microsoft.com/office/drawing/2014/main" id="{B141D559-8CD7-4408-B94F-8E88E2EC2263}"/>
              </a:ext>
            </a:extLst>
          </p:cNvPr>
          <p:cNvSpPr txBox="1">
            <a:spLocks/>
          </p:cNvSpPr>
          <p:nvPr/>
        </p:nvSpPr>
        <p:spPr>
          <a:xfrm>
            <a:off x="291102" y="361419"/>
            <a:ext cx="9105146"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a:solidFill>
                  <a:schemeClr val="tx1">
                    <a:lumMod val="75000"/>
                    <a:lumOff val="25000"/>
                  </a:schemeClr>
                </a:solidFill>
              </a:rPr>
              <a:t>Distribusi Nilai Pesanan Rata-rata (AOV)</a:t>
            </a:r>
            <a:endParaRPr lang="en-GB" sz="3200" b="0" dirty="0">
              <a:solidFill>
                <a:schemeClr val="tx1">
                  <a:lumMod val="75000"/>
                  <a:lumOff val="25000"/>
                </a:schemeClr>
              </a:solidFill>
            </a:endParaRPr>
          </a:p>
        </p:txBody>
      </p:sp>
      <p:pic>
        <p:nvPicPr>
          <p:cNvPr id="6148" name="Picture 4">
            <a:extLst>
              <a:ext uri="{FF2B5EF4-FFF2-40B4-BE49-F238E27FC236}">
                <a16:creationId xmlns:a16="http://schemas.microsoft.com/office/drawing/2014/main" id="{729FB2B9-DFCE-4826-E9FA-99F6429173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341" y="955341"/>
            <a:ext cx="10575063" cy="3468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440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3906127" y="4773364"/>
            <a:ext cx="6278397" cy="1788548"/>
          </a:xfrm>
          <a:prstGeom prst="rect">
            <a:avLst/>
          </a:prstGeom>
          <a:solidFill>
            <a:schemeClr val="lt1"/>
          </a:solidFill>
          <a:ln>
            <a:noFill/>
          </a:ln>
        </p:spPr>
        <p:txBody>
          <a:bodyPr spcFirstLastPara="1" wrap="square" lIns="91425" tIns="45700" rIns="91425" bIns="45700" anchor="ctr" anchorCtr="0">
            <a:noAutofit/>
          </a:bodyPr>
          <a:lstStyle/>
          <a:p>
            <a:pPr marL="285750" lvl="0" indent="-285750">
              <a:buSzPts val="1800"/>
              <a:buFont typeface="Arial" panose="020B0604020202020204" pitchFamily="34" charset="0"/>
              <a:buChar char="•"/>
            </a:pPr>
            <a:r>
              <a:rPr lang="en-GB" sz="1600">
                <a:latin typeface="Poppins" panose="020B0604020202020204" charset="0"/>
                <a:cs typeface="Poppins" panose="020B0604020202020204" charset="0"/>
              </a:rPr>
              <a:t>California memimpin pendapatan &amp; pesanan. </a:t>
            </a:r>
            <a:br>
              <a:rPr lang="en-GB" sz="1600">
                <a:latin typeface="Poppins" panose="020B0604020202020204" charset="0"/>
                <a:cs typeface="Poppins" panose="020B0604020202020204" charset="0"/>
              </a:rPr>
            </a:br>
            <a:r>
              <a:rPr lang="en-GB" sz="1600">
                <a:latin typeface="Poppins" panose="020B0604020202020204" charset="0"/>
                <a:cs typeface="Poppins" panose="020B0604020202020204" charset="0"/>
              </a:rPr>
              <a:t>
IL, FL, TX: Tinggi di keduanya. </a:t>
            </a:r>
            <a:br>
              <a:rPr lang="en-GB" sz="1600">
                <a:latin typeface="Poppins" panose="020B0604020202020204" charset="0"/>
                <a:cs typeface="Poppins" panose="020B0604020202020204" charset="0"/>
              </a:rPr>
            </a:br>
            <a:r>
              <a:rPr lang="en-GB" sz="1600">
                <a:latin typeface="Poppins" panose="020B0604020202020204" charset="0"/>
                <a:cs typeface="Poppins" panose="020B0604020202020204" charset="0"/>
              </a:rPr>
              <a:t>
Pendapatan &amp; pesanan terkait. </a:t>
            </a:r>
            <a:br>
              <a:rPr lang="en-GB" sz="1600">
                <a:latin typeface="Poppins" panose="020B0604020202020204" charset="0"/>
                <a:cs typeface="Poppins" panose="020B0604020202020204" charset="0"/>
              </a:rPr>
            </a:br>
            <a:r>
              <a:rPr lang="en-GB" sz="1600">
                <a:latin typeface="Poppins" panose="020B0604020202020204" charset="0"/>
                <a:cs typeface="Poppins" panose="020B0604020202020204" charset="0"/>
              </a:rPr>
              <a:t>
Negara bagian teratas lainnya: Kontribusi lebih rendah.</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6" name="Group 15">
            <a:extLst>
              <a:ext uri="{FF2B5EF4-FFF2-40B4-BE49-F238E27FC236}">
                <a16:creationId xmlns:a16="http://schemas.microsoft.com/office/drawing/2014/main" id="{BCD832DA-6837-43BD-BCA8-DC3C64AEA851}"/>
              </a:ext>
            </a:extLst>
          </p:cNvPr>
          <p:cNvGrpSpPr/>
          <p:nvPr/>
        </p:nvGrpSpPr>
        <p:grpSpPr>
          <a:xfrm>
            <a:off x="2301063" y="4647840"/>
            <a:ext cx="1799684" cy="520496"/>
            <a:chOff x="4990288" y="1782720"/>
            <a:chExt cx="1799684" cy="520496"/>
          </a:xfrm>
        </p:grpSpPr>
        <p:pic>
          <p:nvPicPr>
            <p:cNvPr id="17" name="Picture 16">
              <a:extLst>
                <a:ext uri="{FF2B5EF4-FFF2-40B4-BE49-F238E27FC236}">
                  <a16:creationId xmlns:a16="http://schemas.microsoft.com/office/drawing/2014/main" id="{27227694-6406-4F94-AE9A-63F102BD4FCF}"/>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8" name="TextBox 17">
              <a:extLst>
                <a:ext uri="{FF2B5EF4-FFF2-40B4-BE49-F238E27FC236}">
                  <a16:creationId xmlns:a16="http://schemas.microsoft.com/office/drawing/2014/main" id="{9FB709D9-5EFD-427F-93EB-E673E405FB1D}"/>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6E04CD2A-9940-40FB-B232-1212B8ECF12B}"/>
              </a:ext>
            </a:extLst>
          </p:cNvPr>
          <p:cNvSpPr txBox="1">
            <a:spLocks/>
          </p:cNvSpPr>
          <p:nvPr/>
        </p:nvSpPr>
        <p:spPr>
          <a:xfrm>
            <a:off x="291102" y="361419"/>
            <a:ext cx="1159609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a:solidFill>
                  <a:schemeClr val="tx1">
                    <a:lumMod val="75000"/>
                    <a:lumOff val="25000"/>
                  </a:schemeClr>
                </a:solidFill>
              </a:rPr>
              <a:t>Kinerja Terbaik Negara Bagian: Pendapatan vs. Pesanan</a:t>
            </a:r>
            <a:endParaRPr lang="en-GB" sz="3200" b="0" dirty="0">
              <a:solidFill>
                <a:schemeClr val="tx1">
                  <a:lumMod val="75000"/>
                  <a:lumOff val="25000"/>
                </a:schemeClr>
              </a:solidFill>
            </a:endParaRPr>
          </a:p>
        </p:txBody>
      </p:sp>
      <p:pic>
        <p:nvPicPr>
          <p:cNvPr id="6" name="Picture 5">
            <a:extLst>
              <a:ext uri="{FF2B5EF4-FFF2-40B4-BE49-F238E27FC236}">
                <a16:creationId xmlns:a16="http://schemas.microsoft.com/office/drawing/2014/main" id="{609647EF-A32A-5DC8-43A6-ADC547C532DA}"/>
              </a:ext>
            </a:extLst>
          </p:cNvPr>
          <p:cNvPicPr>
            <a:picLocks noChangeAspect="1"/>
          </p:cNvPicPr>
          <p:nvPr/>
        </p:nvPicPr>
        <p:blipFill>
          <a:blip r:embed="rId4"/>
          <a:stretch>
            <a:fillRect/>
          </a:stretch>
        </p:blipFill>
        <p:spPr>
          <a:xfrm>
            <a:off x="1" y="1021258"/>
            <a:ext cx="6096000" cy="2873582"/>
          </a:xfrm>
          <a:prstGeom prst="rect">
            <a:avLst/>
          </a:prstGeom>
        </p:spPr>
      </p:pic>
      <p:pic>
        <p:nvPicPr>
          <p:cNvPr id="8" name="Picture 7">
            <a:extLst>
              <a:ext uri="{FF2B5EF4-FFF2-40B4-BE49-F238E27FC236}">
                <a16:creationId xmlns:a16="http://schemas.microsoft.com/office/drawing/2014/main" id="{EE741327-CAC7-734D-94D3-28C5920C0439}"/>
              </a:ext>
            </a:extLst>
          </p:cNvPr>
          <p:cNvPicPr>
            <a:picLocks noChangeAspect="1"/>
          </p:cNvPicPr>
          <p:nvPr/>
        </p:nvPicPr>
        <p:blipFill>
          <a:blip r:embed="rId5"/>
          <a:stretch>
            <a:fillRect/>
          </a:stretch>
        </p:blipFill>
        <p:spPr>
          <a:xfrm>
            <a:off x="6223129" y="1024998"/>
            <a:ext cx="5542222" cy="2838846"/>
          </a:xfrm>
          <a:prstGeom prst="rect">
            <a:avLst/>
          </a:prstGeom>
        </p:spPr>
      </p:pic>
    </p:spTree>
    <p:extLst>
      <p:ext uri="{BB962C8B-B14F-4D97-AF65-F5344CB8AC3E}">
        <p14:creationId xmlns:p14="http://schemas.microsoft.com/office/powerpoint/2010/main" val="765688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5069452"/>
            <a:ext cx="9606231" cy="1498059"/>
          </a:xfrm>
          <a:prstGeom prst="rect">
            <a:avLst/>
          </a:prstGeom>
          <a:solidFill>
            <a:schemeClr val="lt1"/>
          </a:solidFill>
          <a:ln>
            <a:noFill/>
          </a:ln>
        </p:spPr>
        <p:txBody>
          <a:bodyPr spcFirstLastPara="1" wrap="square" lIns="91425" tIns="45700" rIns="91425" bIns="45700" anchor="ctr" anchorCtr="0">
            <a:noAutofit/>
          </a:bodyPr>
          <a:lstStyle/>
          <a:p>
            <a:pPr marL="285750" lvl="0" indent="-285750">
              <a:spcBef>
                <a:spcPts val="1000"/>
              </a:spcBef>
              <a:buSzPts val="1800"/>
              <a:buFont typeface="Arial" panose="020B0604020202020204" pitchFamily="34" charset="0"/>
              <a:buChar char="•"/>
            </a:pPr>
            <a:r>
              <a:rPr lang="en-GB" sz="1600" dirty="0">
                <a:latin typeface="Poppins" panose="020B0604020202020204" charset="0"/>
                <a:cs typeface="Poppins" panose="020B0604020202020204" charset="0"/>
              </a:rPr>
              <a:t>Perusahaan </a:t>
            </a:r>
            <a:r>
              <a:rPr lang="en-GB" sz="1600" dirty="0" err="1">
                <a:latin typeface="Poppins" panose="020B0604020202020204" charset="0"/>
                <a:cs typeface="Poppins" panose="020B0604020202020204" charset="0"/>
              </a:rPr>
              <a:t>Aibox</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memimpin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secara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signifikan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sebagai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penghasil</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pendapatan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terbesar</a:t>
            </a:r>
            <a:r>
              <a:rPr lang="en-GB" sz="1600" dirty="0">
                <a:latin typeface="Poppins" panose="020B0604020202020204" charset="0"/>
                <a:cs typeface="Poppins" panose="020B0604020202020204" charset="0"/>
              </a:rPr>
              <a:t>. 
10 </a:t>
            </a:r>
            <a:r>
              <a:rPr lang="en-GB" sz="1600" dirty="0" err="1">
                <a:latin typeface="Poppins" panose="020B0604020202020204" charset="0"/>
                <a:cs typeface="Poppins" panose="020B0604020202020204" charset="0"/>
              </a:rPr>
              <a:t>pelanggan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terbawah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menghasilkan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pendapatan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jauh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lebih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sedikit</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sekitar</a:t>
            </a:r>
            <a:r>
              <a:rPr lang="en-GB" sz="1600" dirty="0">
                <a:latin typeface="Poppins" panose="020B0604020202020204" charset="0"/>
                <a:cs typeface="Poppins" panose="020B0604020202020204" charset="0"/>
              </a:rPr>
              <a:t> $4-5 </a:t>
            </a:r>
            <a:r>
              <a:rPr lang="en-GB" sz="1600" dirty="0" err="1">
                <a:latin typeface="Poppins" panose="020B0604020202020204" charset="0"/>
                <a:cs typeface="Poppins" panose="020B0604020202020204" charset="0"/>
              </a:rPr>
              <a:t>juta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Konsentrasi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pendapatan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Pelanggan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utama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menyumbang</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porsi</a:t>
            </a:r>
            <a:r>
              <a:rPr lang="en-GB" sz="1600" dirty="0">
                <a:latin typeface="Poppins" panose="020B0604020202020204" charset="0"/>
                <a:cs typeface="Poppins" panose="020B0604020202020204" charset="0"/>
              </a:rPr>
              <a:t> yang </a:t>
            </a:r>
            <a:r>
              <a:rPr lang="en-GB" sz="1600" dirty="0" err="1">
                <a:latin typeface="Poppins" panose="020B0604020202020204" charset="0"/>
                <a:cs typeface="Poppins" panose="020B0604020202020204" charset="0"/>
              </a:rPr>
              <a:t>tidak</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proporsional</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Kesenjangan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besar</a:t>
            </a:r>
            <a:r>
              <a:rPr lang="en-GB" sz="1600" dirty="0">
                <a:latin typeface="Poppins" panose="020B0604020202020204" charset="0"/>
                <a:cs typeface="Poppins" panose="020B0604020202020204" charset="0"/>
              </a:rPr>
              <a:t>: Ada </a:t>
            </a:r>
            <a:r>
              <a:rPr lang="en-GB" sz="1600" dirty="0" err="1">
                <a:latin typeface="Poppins" panose="020B0604020202020204" charset="0"/>
                <a:cs typeface="Poppins" panose="020B0604020202020204" charset="0"/>
              </a:rPr>
              <a:t>antara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pendapatan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pelanggan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teratas</a:t>
            </a:r>
            <a:r>
              <a:rPr lang="en-GB" sz="1600" dirty="0">
                <a:latin typeface="Poppins" panose="020B0604020202020204" charset="0"/>
                <a:cs typeface="Poppins" panose="020B0604020202020204" charset="0"/>
              </a:rPr>
              <a:t> dan </a:t>
            </a:r>
            <a:r>
              <a:rPr lang="en-GB" sz="1600" dirty="0" err="1">
                <a:latin typeface="Poppins" panose="020B0604020202020204" charset="0"/>
                <a:cs typeface="Poppins" panose="020B0604020202020204" charset="0"/>
              </a:rPr>
              <a:t>terbawah</a:t>
            </a:r>
            <a:r>
              <a:rPr lang="en-GB" sz="1600" dirty="0">
                <a:latin typeface="Poppins" panose="020B0604020202020204" charset="0"/>
                <a:cs typeface="Poppins" panose="020B0604020202020204" charset="0"/>
              </a:rPr>
              <a:t>.</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5" name="Group 14">
            <a:extLst>
              <a:ext uri="{FF2B5EF4-FFF2-40B4-BE49-F238E27FC236}">
                <a16:creationId xmlns:a16="http://schemas.microsoft.com/office/drawing/2014/main" id="{3BEE92BF-EDF0-43AD-84EB-6B78097D0AE5}"/>
              </a:ext>
            </a:extLst>
          </p:cNvPr>
          <p:cNvGrpSpPr/>
          <p:nvPr/>
        </p:nvGrpSpPr>
        <p:grpSpPr>
          <a:xfrm>
            <a:off x="700392" y="4809204"/>
            <a:ext cx="1799684" cy="520496"/>
            <a:chOff x="4990288" y="1782720"/>
            <a:chExt cx="1799684" cy="520496"/>
          </a:xfrm>
        </p:grpSpPr>
        <p:pic>
          <p:nvPicPr>
            <p:cNvPr id="16" name="Picture 15">
              <a:extLst>
                <a:ext uri="{FF2B5EF4-FFF2-40B4-BE49-F238E27FC236}">
                  <a16:creationId xmlns:a16="http://schemas.microsoft.com/office/drawing/2014/main" id="{805499F1-5CF7-482E-9CC3-85D032E64813}"/>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7" name="TextBox 16">
              <a:extLst>
                <a:ext uri="{FF2B5EF4-FFF2-40B4-BE49-F238E27FC236}">
                  <a16:creationId xmlns:a16="http://schemas.microsoft.com/office/drawing/2014/main" id="{F3DBDAF9-3B3E-479B-8CE3-C15C29F0998F}"/>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1" name="Google Shape;257;g21197e7cf6e_0_97">
            <a:extLst>
              <a:ext uri="{FF2B5EF4-FFF2-40B4-BE49-F238E27FC236}">
                <a16:creationId xmlns:a16="http://schemas.microsoft.com/office/drawing/2014/main" id="{2449E120-C251-406B-9222-741B21FC9E12}"/>
              </a:ext>
            </a:extLst>
          </p:cNvPr>
          <p:cNvSpPr txBox="1">
            <a:spLocks/>
          </p:cNvSpPr>
          <p:nvPr/>
        </p:nvSpPr>
        <p:spPr>
          <a:xfrm>
            <a:off x="291102" y="361419"/>
            <a:ext cx="11379788" cy="430887"/>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sv-SE" b="0" dirty="0">
                <a:solidFill>
                  <a:schemeClr val="tx1">
                    <a:lumMod val="75000"/>
                    <a:lumOff val="25000"/>
                  </a:schemeClr>
                </a:solidFill>
              </a:rPr>
              <a:t>10 Pelanggan Teratas dan Terbawah berdasarkan Pendapatan</a:t>
            </a:r>
            <a:endParaRPr lang="en-GB" b="0" dirty="0">
              <a:solidFill>
                <a:schemeClr val="tx1">
                  <a:lumMod val="75000"/>
                  <a:lumOff val="25000"/>
                </a:schemeClr>
              </a:solidFill>
            </a:endParaRPr>
          </a:p>
        </p:txBody>
      </p:sp>
      <p:pic>
        <p:nvPicPr>
          <p:cNvPr id="7170" name="Picture 2">
            <a:extLst>
              <a:ext uri="{FF2B5EF4-FFF2-40B4-BE49-F238E27FC236}">
                <a16:creationId xmlns:a16="http://schemas.microsoft.com/office/drawing/2014/main" id="{AD04A0A6-6599-1469-5B9A-4C72676CBA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88" y="1120949"/>
            <a:ext cx="11562402" cy="3563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72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623700" y="2598077"/>
            <a:ext cx="5428870" cy="2570446"/>
          </a:xfrm>
          <a:prstGeom prst="rect">
            <a:avLst/>
          </a:prstGeom>
          <a:solidFill>
            <a:schemeClr val="lt1"/>
          </a:solidFill>
          <a:ln>
            <a:noFill/>
          </a:ln>
        </p:spPr>
        <p:txBody>
          <a:bodyPr spcFirstLastPara="1" wrap="square" lIns="91425" tIns="45700" rIns="91425" bIns="45700" anchor="ctr" anchorCtr="0">
            <a:noAutofit/>
          </a:bodyPr>
          <a:lstStyle/>
          <a:p>
            <a:pPr marL="285750" lvl="0" indent="-285750">
              <a:spcBef>
                <a:spcPts val="1000"/>
              </a:spcBef>
              <a:buSzPts val="1800"/>
              <a:buFont typeface="Arial" panose="020B0604020202020204" pitchFamily="34" charset="0"/>
              <a:buChar char="•"/>
            </a:pPr>
            <a:r>
              <a:rPr lang="en-GB" sz="1600" dirty="0">
                <a:latin typeface="Poppins" panose="020B0604020202020204" charset="0"/>
                <a:cs typeface="Poppins" panose="020B0604020202020204" charset="0"/>
              </a:rPr>
              <a:t>Margin Uniform 35–40% </a:t>
            </a:r>
            <a:r>
              <a:rPr lang="en-GB" sz="1600" dirty="0" err="1">
                <a:latin typeface="Poppins" panose="020B0604020202020204" charset="0"/>
                <a:cs typeface="Poppins" panose="020B0604020202020204" charset="0"/>
              </a:rPr>
              <a:t>tersebut</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menegaskan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penetapan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harga</a:t>
            </a:r>
            <a:r>
              <a:rPr lang="en-GB" sz="1600" dirty="0">
                <a:latin typeface="Poppins" panose="020B0604020202020204" charset="0"/>
                <a:cs typeface="Poppins" panose="020B0604020202020204" charset="0"/>
              </a:rPr>
              <a:t> dan </a:t>
            </a:r>
            <a:r>
              <a:rPr lang="en-GB" sz="1600" dirty="0" err="1">
                <a:latin typeface="Poppins" panose="020B0604020202020204" charset="0"/>
                <a:cs typeface="Poppins" panose="020B0604020202020204" charset="0"/>
              </a:rPr>
              <a:t>pengendalian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biaya</a:t>
            </a:r>
            <a:r>
              <a:rPr lang="en-GB" sz="1600" dirty="0">
                <a:latin typeface="Poppins" panose="020B0604020202020204" charset="0"/>
                <a:cs typeface="Poppins" panose="020B0604020202020204" charset="0"/>
              </a:rPr>
              <a:t> yang </a:t>
            </a:r>
            <a:r>
              <a:rPr lang="en-GB" sz="1600" dirty="0" err="1">
                <a:latin typeface="Poppins" panose="020B0604020202020204" charset="0"/>
                <a:cs typeface="Poppins" panose="020B0604020202020204" charset="0"/>
              </a:rPr>
              <a:t>kuat</a:t>
            </a:r>
            <a:r>
              <a:rPr lang="en-GB" sz="1600" dirty="0">
                <a:latin typeface="Poppins" panose="020B0604020202020204" charset="0"/>
                <a:cs typeface="Poppins" panose="020B0604020202020204" charset="0"/>
              </a:rPr>
              <a:t> dan </a:t>
            </a:r>
            <a:r>
              <a:rPr lang="en-GB" sz="1600" dirty="0" err="1">
                <a:latin typeface="Poppins" panose="020B0604020202020204" charset="0"/>
                <a:cs typeface="Poppins" panose="020B0604020202020204" charset="0"/>
              </a:rPr>
              <a:t>konsisten</a:t>
            </a:r>
            <a:r>
              <a:rPr lang="en-GB" sz="1600" dirty="0">
                <a:latin typeface="Poppins" panose="020B0604020202020204" charset="0"/>
                <a:cs typeface="Poppins" panose="020B0604020202020204" charset="0"/>
              </a:rPr>
              <a:t>. 
&gt;</a:t>
            </a:r>
            <a:r>
              <a:rPr lang="en-GB" sz="1600" dirty="0" err="1">
                <a:latin typeface="Poppins" panose="020B0604020202020204" charset="0"/>
                <a:cs typeface="Poppins" panose="020B0604020202020204" charset="0"/>
              </a:rPr>
              <a:t>Klien</a:t>
            </a:r>
            <a:r>
              <a:rPr lang="en-GB" sz="1600" dirty="0">
                <a:latin typeface="Poppins" panose="020B0604020202020204" charset="0"/>
                <a:cs typeface="Poppins" panose="020B0604020202020204" charset="0"/>
              </a:rPr>
              <a:t> $10 </a:t>
            </a:r>
            <a:r>
              <a:rPr lang="en-GB" sz="1600" dirty="0" err="1">
                <a:latin typeface="Poppins" panose="020B0604020202020204" charset="0"/>
                <a:cs typeface="Poppins" panose="020B0604020202020204" charset="0"/>
              </a:rPr>
              <a:t>juta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dengan</a:t>
            </a:r>
            <a:r>
              <a:rPr lang="en-GB" sz="1600" dirty="0">
                <a:latin typeface="Poppins" panose="020B0604020202020204" charset="0"/>
                <a:cs typeface="Poppins" panose="020B0604020202020204" charset="0"/>
              </a:rPr>
              <a:t> margin &lt;36% </a:t>
            </a:r>
            <a:r>
              <a:rPr lang="en-GB" sz="1600" dirty="0" err="1">
                <a:latin typeface="Poppins" panose="020B0604020202020204" charset="0"/>
                <a:cs typeface="Poppins" panose="020B0604020202020204" charset="0"/>
              </a:rPr>
              <a:t>mengungkapkan</a:t>
            </a:r>
            <a:r>
              <a:rPr lang="en-GB" sz="1600" dirty="0">
                <a:latin typeface="Poppins" panose="020B0604020202020204" charset="0"/>
                <a:cs typeface="Poppins" panose="020B0604020202020204" charset="0"/>
              </a:rPr>
              <a:t> hotspot </a:t>
            </a:r>
            <a:r>
              <a:rPr lang="en-GB" sz="1600" dirty="0" err="1">
                <a:latin typeface="Poppins" panose="020B0604020202020204" charset="0"/>
                <a:cs typeface="Poppins" panose="020B0604020202020204" charset="0"/>
              </a:rPr>
              <a:t>diskon</a:t>
            </a:r>
            <a:r>
              <a:rPr lang="en-GB" sz="1600" dirty="0">
                <a:latin typeface="Poppins" panose="020B0604020202020204" charset="0"/>
                <a:cs typeface="Poppins" panose="020B0604020202020204" charset="0"/>
              </a:rPr>
              <a:t>—</a:t>
            </a:r>
            <a:r>
              <a:rPr lang="en-GB" sz="1600" dirty="0" err="1">
                <a:latin typeface="Poppins" panose="020B0604020202020204" charset="0"/>
                <a:cs typeface="Poppins" panose="020B0604020202020204" charset="0"/>
              </a:rPr>
              <a:t>evaluasi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ulang</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syarat</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akun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besar</a:t>
            </a:r>
            <a:r>
              <a:rPr lang="en-GB" sz="1600" dirty="0">
                <a:latin typeface="Poppins" panose="020B0604020202020204" charset="0"/>
                <a:cs typeface="Poppins" panose="020B0604020202020204" charset="0"/>
              </a:rPr>
              <a:t>. </a:t>
            </a:r>
          </a:p>
          <a:p>
            <a:pPr marL="285750" lvl="0" indent="-285750">
              <a:spcBef>
                <a:spcPts val="1000"/>
              </a:spcBef>
              <a:buSzPts val="1800"/>
              <a:buFont typeface="Arial" panose="020B0604020202020204" pitchFamily="34" charset="0"/>
              <a:buChar char="•"/>
            </a:pPr>
            <a:r>
              <a:rPr lang="en-GB" sz="1600" dirty="0" err="1">
                <a:latin typeface="Poppins" panose="020B0604020202020204" charset="0"/>
                <a:cs typeface="Poppins" panose="020B0604020202020204" charset="0"/>
              </a:rPr>
              <a:t>Klien</a:t>
            </a:r>
            <a:r>
              <a:rPr lang="en-GB" sz="1600" dirty="0">
                <a:latin typeface="Poppins" panose="020B0604020202020204" charset="0"/>
                <a:cs typeface="Poppins" panose="020B0604020202020204" charset="0"/>
              </a:rPr>
              <a:t> $6–9 </a:t>
            </a:r>
            <a:r>
              <a:rPr lang="en-GB" sz="1600" dirty="0" err="1">
                <a:latin typeface="Poppins" panose="020B0604020202020204" charset="0"/>
                <a:cs typeface="Poppins" panose="020B0604020202020204" charset="0"/>
              </a:rPr>
              <a:t>juta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dengan</a:t>
            </a:r>
            <a:r>
              <a:rPr lang="en-GB" sz="1600" dirty="0">
                <a:latin typeface="Poppins" panose="020B0604020202020204" charset="0"/>
                <a:cs typeface="Poppins" panose="020B0604020202020204" charset="0"/>
              </a:rPr>
              <a:t> margin &gt;40% </a:t>
            </a:r>
            <a:r>
              <a:rPr lang="en-GB" sz="1600" dirty="0" err="1">
                <a:latin typeface="Poppins" panose="020B0604020202020204" charset="0"/>
                <a:cs typeface="Poppins" panose="020B0604020202020204" charset="0"/>
              </a:rPr>
              <a:t>adalah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kandidat</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bernilai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tinggi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untuk</a:t>
            </a:r>
            <a:r>
              <a:rPr lang="en-GB" sz="1600" dirty="0">
                <a:latin typeface="Poppins" panose="020B0604020202020204" charset="0"/>
                <a:cs typeface="Poppins" panose="020B0604020202020204" charset="0"/>
              </a:rPr>
              <a:t> upsell yang </a:t>
            </a:r>
            <a:r>
              <a:rPr lang="en-GB" sz="1600" dirty="0" err="1">
                <a:latin typeface="Poppins" panose="020B0604020202020204" charset="0"/>
                <a:cs typeface="Poppins" panose="020B0604020202020204" charset="0"/>
              </a:rPr>
              <a:t>ditargetkan</a:t>
            </a:r>
            <a:r>
              <a:rPr lang="en-GB" sz="1600" dirty="0">
                <a:latin typeface="Poppins" panose="020B0604020202020204" charset="0"/>
                <a:cs typeface="Poppins" panose="020B0604020202020204" charset="0"/>
              </a:rPr>
              <a:t>.</a:t>
            </a:r>
            <a:endParaRPr lang="en-GB"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0" name="Group 9">
            <a:extLst>
              <a:ext uri="{FF2B5EF4-FFF2-40B4-BE49-F238E27FC236}">
                <a16:creationId xmlns:a16="http://schemas.microsoft.com/office/drawing/2014/main" id="{0424FEB4-C23A-4F5C-94D6-30B974864E0F}"/>
              </a:ext>
            </a:extLst>
          </p:cNvPr>
          <p:cNvGrpSpPr/>
          <p:nvPr/>
        </p:nvGrpSpPr>
        <p:grpSpPr>
          <a:xfrm>
            <a:off x="6524448" y="1904839"/>
            <a:ext cx="1799684" cy="520496"/>
            <a:chOff x="4990288" y="1782720"/>
            <a:chExt cx="1799684" cy="520496"/>
          </a:xfrm>
        </p:grpSpPr>
        <p:pic>
          <p:nvPicPr>
            <p:cNvPr id="11" name="Picture 10">
              <a:extLst>
                <a:ext uri="{FF2B5EF4-FFF2-40B4-BE49-F238E27FC236}">
                  <a16:creationId xmlns:a16="http://schemas.microsoft.com/office/drawing/2014/main" id="{9138E342-C826-4674-9A13-CE9AC70D120F}"/>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96A52B8-5099-4B1B-83C9-3818EE103ED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Rectangle 12">
            <a:extLst>
              <a:ext uri="{FF2B5EF4-FFF2-40B4-BE49-F238E27FC236}">
                <a16:creationId xmlns:a16="http://schemas.microsoft.com/office/drawing/2014/main" id="{EC5A6E02-D1B8-42AC-A6A9-D169FAEE931F}"/>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Google Shape;257;g21197e7cf6e_0_97">
            <a:extLst>
              <a:ext uri="{FF2B5EF4-FFF2-40B4-BE49-F238E27FC236}">
                <a16:creationId xmlns:a16="http://schemas.microsoft.com/office/drawing/2014/main" id="{EC3F2E8A-CC3A-44EC-BB95-D0A91F6B51B8}"/>
              </a:ext>
            </a:extLst>
          </p:cNvPr>
          <p:cNvSpPr txBox="1">
            <a:spLocks/>
          </p:cNvSpPr>
          <p:nvPr/>
        </p:nvSpPr>
        <p:spPr>
          <a:xfrm>
            <a:off x="291102" y="361419"/>
            <a:ext cx="10360685" cy="461665"/>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000" b="0">
                <a:solidFill>
                  <a:schemeClr val="tx1">
                    <a:lumMod val="75000"/>
                    <a:lumOff val="25000"/>
                  </a:schemeClr>
                </a:solidFill>
              </a:rPr>
              <a:t>Segmentasi Pelanggan: Pendapatan vs. Margin Laba</a:t>
            </a:r>
            <a:endParaRPr lang="en-GB" sz="3000" b="0" dirty="0">
              <a:solidFill>
                <a:schemeClr val="tx1">
                  <a:lumMod val="75000"/>
                  <a:lumOff val="25000"/>
                </a:schemeClr>
              </a:solidFill>
            </a:endParaRPr>
          </a:p>
        </p:txBody>
      </p:sp>
      <p:pic>
        <p:nvPicPr>
          <p:cNvPr id="8194" name="Picture 2">
            <a:extLst>
              <a:ext uri="{FF2B5EF4-FFF2-40B4-BE49-F238E27FC236}">
                <a16:creationId xmlns:a16="http://schemas.microsoft.com/office/drawing/2014/main" id="{924B8606-0210-9921-0F27-3E400EDA23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650" y="1292327"/>
            <a:ext cx="6143802" cy="4362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205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371616" y="2271057"/>
            <a:ext cx="5680953" cy="3701118"/>
          </a:xfrm>
          <a:prstGeom prst="rect">
            <a:avLst/>
          </a:prstGeom>
          <a:solidFill>
            <a:schemeClr val="lt1"/>
          </a:solidFill>
          <a:ln>
            <a:noFill/>
          </a:ln>
        </p:spPr>
        <p:txBody>
          <a:bodyPr spcFirstLastPara="1" wrap="square" lIns="91425" tIns="45700" rIns="91425" bIns="45700" anchor="ctr" anchorCtr="0">
            <a:noAutofit/>
          </a:bodyPr>
          <a:lstStyle/>
          <a:p>
            <a:pPr marL="285750" lvl="0" indent="-285750">
              <a:buSzPts val="1800"/>
              <a:buFont typeface="Arial" panose="020B0604020202020204" pitchFamily="34" charset="0"/>
              <a:buChar char="•"/>
            </a:pPr>
            <a:r>
              <a:rPr lang="en-GB" sz="1600" dirty="0">
                <a:latin typeface="Poppins" panose="020B0604020202020204" charset="0"/>
                <a:cs typeface="Poppins" panose="020B0604020202020204" charset="0"/>
              </a:rPr>
              <a:t>Harga </a:t>
            </a:r>
            <a:r>
              <a:rPr lang="en-GB" sz="1600" dirty="0" err="1">
                <a:latin typeface="Poppins" panose="020B0604020202020204" charset="0"/>
                <a:cs typeface="Poppins" panose="020B0604020202020204" charset="0"/>
              </a:rPr>
              <a:t>satuan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adalah</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pendorong</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utama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menunjukkan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korelasi</a:t>
            </a:r>
            <a:r>
              <a:rPr lang="en-GB" sz="1600" dirty="0">
                <a:latin typeface="Poppins" panose="020B0604020202020204" charset="0"/>
                <a:cs typeface="Poppins" panose="020B0604020202020204" charset="0"/>
              </a:rPr>
              <a:t> yang sangat </a:t>
            </a:r>
            <a:r>
              <a:rPr lang="en-GB" sz="1600" dirty="0" err="1">
                <a:latin typeface="Poppins" panose="020B0604020202020204" charset="0"/>
                <a:cs typeface="Poppins" panose="020B0604020202020204" charset="0"/>
              </a:rPr>
              <a:t>kuat</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dengan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biaya</a:t>
            </a:r>
            <a:r>
              <a:rPr lang="en-GB" sz="1600" dirty="0">
                <a:latin typeface="Poppins" panose="020B0604020202020204" charset="0"/>
                <a:cs typeface="Poppins" panose="020B0604020202020204" charset="0"/>
              </a:rPr>
              <a:t> (0,94), </a:t>
            </a:r>
            <a:r>
              <a:rPr lang="en-GB" sz="1600" dirty="0" err="1">
                <a:latin typeface="Poppins" panose="020B0604020202020204" charset="0"/>
                <a:cs typeface="Poppins" panose="020B0604020202020204" charset="0"/>
              </a:rPr>
              <a:t>pendapatan</a:t>
            </a:r>
            <a:r>
              <a:rPr lang="en-GB" sz="1600" dirty="0">
                <a:latin typeface="Poppins" panose="020B0604020202020204" charset="0"/>
                <a:cs typeface="Poppins" panose="020B0604020202020204" charset="0"/>
              </a:rPr>
              <a:t> (0,91), dan </a:t>
            </a:r>
            <a:r>
              <a:rPr lang="en-GB" sz="1600" dirty="0" err="1">
                <a:latin typeface="Poppins" panose="020B0604020202020204" charset="0"/>
                <a:cs typeface="Poppins" panose="020B0604020202020204" charset="0"/>
              </a:rPr>
              <a:t>laba</a:t>
            </a:r>
            <a:r>
              <a:rPr lang="en-GB" sz="1600" dirty="0">
                <a:latin typeface="Poppins" panose="020B0604020202020204" charset="0"/>
                <a:cs typeface="Poppins" panose="020B0604020202020204" charset="0"/>
              </a:rPr>
              <a:t> (0,79). </a:t>
            </a:r>
          </a:p>
          <a:p>
            <a:pPr marL="285750" lvl="0" indent="-285750">
              <a:buSzPts val="1800"/>
              <a:buFont typeface="Arial" panose="020B0604020202020204" pitchFamily="34" charset="0"/>
              <a:buChar char="•"/>
            </a:pP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Pendapatan</a:t>
            </a:r>
            <a:r>
              <a:rPr lang="en-GB" sz="1600" dirty="0">
                <a:latin typeface="Poppins" panose="020B0604020202020204" charset="0"/>
                <a:cs typeface="Poppins" panose="020B0604020202020204" charset="0"/>
              </a:rPr>
              <a:t> &amp; </a:t>
            </a:r>
            <a:r>
              <a:rPr lang="en-GB" sz="1600" dirty="0" err="1">
                <a:latin typeface="Poppins" panose="020B0604020202020204" charset="0"/>
                <a:cs typeface="Poppins" panose="020B0604020202020204" charset="0"/>
              </a:rPr>
              <a:t>laba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mempertahankan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hubungan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tinggi</a:t>
            </a:r>
            <a:r>
              <a:rPr lang="en-GB" sz="1600" dirty="0">
                <a:latin typeface="Poppins" panose="020B0604020202020204" charset="0"/>
                <a:cs typeface="Poppins" panose="020B0604020202020204" charset="0"/>
              </a:rPr>
              <a:t> (0,87), </a:t>
            </a:r>
            <a:r>
              <a:rPr lang="en-GB" sz="1600" dirty="0" err="1">
                <a:latin typeface="Poppins" panose="020B0604020202020204" charset="0"/>
                <a:cs typeface="Poppins" panose="020B0604020202020204" charset="0"/>
              </a:rPr>
              <a:t>menyoroti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keuntungan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profitabilitas</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langsung</a:t>
            </a:r>
            <a:r>
              <a:rPr lang="en-GB" sz="1600" dirty="0">
                <a:latin typeface="Poppins" panose="020B0604020202020204" charset="0"/>
                <a:cs typeface="Poppins" panose="020B0604020202020204" charset="0"/>
              </a:rPr>
              <a:t>. </a:t>
            </a:r>
          </a:p>
          <a:p>
            <a:pPr marL="285750" lvl="0" indent="-285750">
              <a:buSzPts val="1800"/>
              <a:buFont typeface="Arial" panose="020B0604020202020204" pitchFamily="34" charset="0"/>
              <a:buChar char="•"/>
            </a:pP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Dampak</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kuantitas</a:t>
            </a:r>
            <a:r>
              <a:rPr lang="en-GB" sz="1600" dirty="0">
                <a:latin typeface="Poppins" panose="020B0604020202020204" charset="0"/>
                <a:cs typeface="Poppins" panose="020B0604020202020204" charset="0"/>
              </a:rPr>
              <a:t> sangat minimal (≤ 0,34 </a:t>
            </a:r>
            <a:r>
              <a:rPr lang="en-GB" sz="1600" dirty="0" err="1">
                <a:latin typeface="Poppins" panose="020B0604020202020204" charset="0"/>
                <a:cs typeface="Poppins" panose="020B0604020202020204" charset="0"/>
              </a:rPr>
              <a:t>dibandingkan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keuangan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menunjukkan</a:t>
            </a:r>
            <a:r>
              <a:rPr lang="en-GB" sz="1600" dirty="0">
                <a:latin typeface="Poppins" panose="020B0604020202020204" charset="0"/>
                <a:cs typeface="Poppins" panose="020B0604020202020204" charset="0"/>
              </a:rPr>
              <a:t> volume </a:t>
            </a:r>
            <a:r>
              <a:rPr lang="en-GB" sz="1600" dirty="0" err="1">
                <a:latin typeface="Poppins" panose="020B0604020202020204" charset="0"/>
                <a:cs typeface="Poppins" panose="020B0604020202020204" charset="0"/>
              </a:rPr>
              <a:t>memainkan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peran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sekunder</a:t>
            </a:r>
            <a:r>
              <a:rPr lang="en-GB" sz="1600" dirty="0">
                <a:latin typeface="Poppins" panose="020B0604020202020204" charset="0"/>
                <a:cs typeface="Poppins" panose="020B0604020202020204" charset="0"/>
              </a:rPr>
              <a:t>. </a:t>
            </a:r>
          </a:p>
          <a:p>
            <a:pPr marL="285750" lvl="0" indent="-285750">
              <a:buSzPts val="1800"/>
              <a:buFont typeface="Arial" panose="020B0604020202020204" pitchFamily="34" charset="0"/>
              <a:buChar char="•"/>
            </a:pP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Korelasi</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biaya</a:t>
            </a:r>
            <a:r>
              <a:rPr lang="en-GB" sz="1600" dirty="0">
                <a:latin typeface="Poppins" panose="020B0604020202020204" charset="0"/>
                <a:cs typeface="Poppins" panose="020B0604020202020204" charset="0"/>
              </a:rPr>
              <a:t> vs. </a:t>
            </a:r>
            <a:r>
              <a:rPr lang="en-GB" sz="1600" dirty="0" err="1">
                <a:latin typeface="Poppins" panose="020B0604020202020204" charset="0"/>
                <a:cs typeface="Poppins" panose="020B0604020202020204" charset="0"/>
              </a:rPr>
              <a:t>laba</a:t>
            </a:r>
            <a:r>
              <a:rPr lang="en-GB" sz="1600" dirty="0">
                <a:latin typeface="Poppins" panose="020B0604020202020204" charset="0"/>
                <a:cs typeface="Poppins" panose="020B0604020202020204" charset="0"/>
              </a:rPr>
              <a:t> (0,58) </a:t>
            </a:r>
            <a:r>
              <a:rPr lang="en-GB" sz="1600" dirty="0" err="1">
                <a:latin typeface="Poppins" panose="020B0604020202020204" charset="0"/>
                <a:cs typeface="Poppins" panose="020B0604020202020204" charset="0"/>
              </a:rPr>
              <a:t>bersifat</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moderat</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menunjukkan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fokus</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peningkatan</a:t>
            </a:r>
            <a:r>
              <a:rPr lang="en-GB" sz="1600" dirty="0">
                <a:latin typeface="Poppins" panose="020B0604020202020204" charset="0"/>
                <a:cs typeface="Poppins" panose="020B0604020202020204" charset="0"/>
              </a:rPr>
              <a:t> margin </a:t>
            </a:r>
            <a:r>
              <a:rPr lang="en-GB" sz="1600" dirty="0" err="1">
                <a:latin typeface="Poppins" panose="020B0604020202020204" charset="0"/>
                <a:cs typeface="Poppins" panose="020B0604020202020204" charset="0"/>
              </a:rPr>
              <a:t>sebaiknya</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berfokus</a:t>
            </a:r>
            <a:r>
              <a:rPr lang="en-GB" sz="1600" dirty="0">
                <a:latin typeface="Poppins" panose="020B0604020202020204" charset="0"/>
                <a:cs typeface="Poppins" panose="020B0604020202020204" charset="0"/>
              </a:rPr>
              <a:t> pada </a:t>
            </a:r>
            <a:r>
              <a:rPr lang="en-GB" sz="1600" dirty="0" err="1">
                <a:latin typeface="Poppins" panose="020B0604020202020204" charset="0"/>
                <a:cs typeface="Poppins" panose="020B0604020202020204" charset="0"/>
              </a:rPr>
              <a:t>penetapan</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harga</a:t>
            </a:r>
            <a:r>
              <a:rPr lang="en-GB" sz="1600" dirty="0">
                <a:latin typeface="Poppins" panose="020B0604020202020204" charset="0"/>
                <a:cs typeface="Poppins" panose="020B0604020202020204" charset="0"/>
              </a:rPr>
              <a:t>.</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0" name="Group 9">
            <a:extLst>
              <a:ext uri="{FF2B5EF4-FFF2-40B4-BE49-F238E27FC236}">
                <a16:creationId xmlns:a16="http://schemas.microsoft.com/office/drawing/2014/main" id="{870D0C5A-2E0A-43BA-9EB1-CACEBF500ACA}"/>
              </a:ext>
            </a:extLst>
          </p:cNvPr>
          <p:cNvGrpSpPr/>
          <p:nvPr/>
        </p:nvGrpSpPr>
        <p:grpSpPr>
          <a:xfrm>
            <a:off x="6219924" y="1750561"/>
            <a:ext cx="1799684" cy="520496"/>
            <a:chOff x="4990288" y="1782720"/>
            <a:chExt cx="1799684" cy="520496"/>
          </a:xfrm>
        </p:grpSpPr>
        <p:pic>
          <p:nvPicPr>
            <p:cNvPr id="11" name="Picture 10">
              <a:extLst>
                <a:ext uri="{FF2B5EF4-FFF2-40B4-BE49-F238E27FC236}">
                  <a16:creationId xmlns:a16="http://schemas.microsoft.com/office/drawing/2014/main" id="{C04FD692-7C1E-426B-A1A9-D42082D36522}"/>
                </a:ext>
              </a:extLst>
            </p:cNvPr>
            <p:cNvPicPr>
              <a:picLocks noChangeAspect="1"/>
            </p:cNvPicPr>
            <p:nvPr/>
          </p:nvPicPr>
          <p:blipFill>
            <a:blip r:embed="rId3"/>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38E0E32-AD2E-402F-B026-4576898C411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Rectangle 5">
            <a:extLst>
              <a:ext uri="{FF2B5EF4-FFF2-40B4-BE49-F238E27FC236}">
                <a16:creationId xmlns:a16="http://schemas.microsoft.com/office/drawing/2014/main" id="{D8594DA7-4735-457A-AD22-C8533C973609}"/>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oogle Shape;257;g21197e7cf6e_0_97">
            <a:extLst>
              <a:ext uri="{FF2B5EF4-FFF2-40B4-BE49-F238E27FC236}">
                <a16:creationId xmlns:a16="http://schemas.microsoft.com/office/drawing/2014/main" id="{930A99F3-207D-43B4-9CC7-150443490A66}"/>
              </a:ext>
            </a:extLst>
          </p:cNvPr>
          <p:cNvSpPr txBox="1">
            <a:spLocks/>
          </p:cNvSpPr>
          <p:nvPr/>
        </p:nvSpPr>
        <p:spPr>
          <a:xfrm>
            <a:off x="291102" y="361419"/>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fi-FI" sz="3200" b="0">
                <a:solidFill>
                  <a:schemeClr val="tx1">
                    <a:lumMod val="75000"/>
                    <a:lumOff val="25000"/>
                  </a:schemeClr>
                </a:solidFill>
              </a:rPr>
              <a:t>Peta panas korelasi fitur numerik</a:t>
            </a:r>
            <a:endParaRPr lang="en-GB" sz="3200" b="0" dirty="0">
              <a:solidFill>
                <a:schemeClr val="tx1">
                  <a:lumMod val="75000"/>
                  <a:lumOff val="25000"/>
                </a:schemeClr>
              </a:solidFill>
            </a:endParaRPr>
          </a:p>
        </p:txBody>
      </p:sp>
      <p:pic>
        <p:nvPicPr>
          <p:cNvPr id="9218" name="Picture 2">
            <a:extLst>
              <a:ext uri="{FF2B5EF4-FFF2-40B4-BE49-F238E27FC236}">
                <a16:creationId xmlns:a16="http://schemas.microsoft.com/office/drawing/2014/main" id="{BF284314-8658-96BE-5CF2-AF8E838C76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095" y="1826143"/>
            <a:ext cx="5372100"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9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2800" b="1">
                <a:solidFill>
                  <a:srgbClr val="FFFFFF"/>
                </a:solidFill>
                <a:latin typeface="Poppins"/>
                <a:ea typeface="Poppins"/>
                <a:cs typeface="Poppins"/>
                <a:sym typeface="Poppins"/>
              </a:rPr>
              <a:t>Wawasan Utama</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4" name="TextBox 3">
            <a:extLst>
              <a:ext uri="{FF2B5EF4-FFF2-40B4-BE49-F238E27FC236}">
                <a16:creationId xmlns:a16="http://schemas.microsoft.com/office/drawing/2014/main" id="{57FF0907-75F7-4D14-9B2A-616F6EC8DD1E}"/>
              </a:ext>
            </a:extLst>
          </p:cNvPr>
          <p:cNvSpPr txBox="1"/>
          <p:nvPr/>
        </p:nvSpPr>
        <p:spPr>
          <a:xfrm>
            <a:off x="761819" y="1891715"/>
            <a:ext cx="11084560" cy="2693045"/>
          </a:xfrm>
          <a:prstGeom prst="rect">
            <a:avLst/>
          </a:prstGeom>
          <a:noFill/>
        </p:spPr>
        <p:txBody>
          <a:bodyPr wrap="square" rtlCol="0">
            <a:spAutoFit/>
          </a:bodyPr>
          <a:lstStyle/>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Musiman</a:t>
            </a:r>
            <a:r>
              <a:rPr lang="en-GB" sz="1800" dirty="0">
                <a:latin typeface="Poppins" panose="020B0604020202020204" charset="0"/>
                <a:cs typeface="Poppins" panose="020B0604020202020204" charset="0"/>
              </a:rPr>
              <a:t> yang </a:t>
            </a:r>
            <a:r>
              <a:rPr lang="en-GB" sz="1800" dirty="0" err="1">
                <a:latin typeface="Poppins" panose="020B0604020202020204" charset="0"/>
                <a:cs typeface="Poppins" panose="020B0604020202020204" charset="0"/>
              </a:rPr>
              <a:t>Jelas</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Pendapatan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Januari</a:t>
            </a:r>
            <a:r>
              <a:rPr lang="en-GB" sz="1800" dirty="0">
                <a:latin typeface="Poppins" panose="020B0604020202020204" charset="0"/>
                <a:cs typeface="Poppins" panose="020B0604020202020204" charset="0"/>
              </a:rPr>
              <a:t> rata-rata $124 </a:t>
            </a:r>
            <a:r>
              <a:rPr lang="en-GB" sz="1800" dirty="0" err="1">
                <a:latin typeface="Poppins" panose="020B0604020202020204" charset="0"/>
                <a:cs typeface="Poppins" panose="020B0604020202020204" charset="0"/>
              </a:rPr>
              <a:t>juta</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turun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menjadi</a:t>
            </a:r>
            <a:r>
              <a:rPr lang="en-GB" sz="1800" dirty="0">
                <a:latin typeface="Poppins" panose="020B0604020202020204" charset="0"/>
                <a:cs typeface="Poppins" panose="020B0604020202020204" charset="0"/>
              </a:rPr>
              <a:t> $95 </a:t>
            </a:r>
            <a:r>
              <a:rPr lang="en-GB" sz="1800" dirty="0" err="1">
                <a:latin typeface="Poppins" panose="020B0604020202020204" charset="0"/>
                <a:cs typeface="Poppins" panose="020B0604020202020204" charset="0"/>
              </a:rPr>
              <a:t>juta</a:t>
            </a:r>
            <a:r>
              <a:rPr lang="en-GB" sz="1800" dirty="0">
                <a:latin typeface="Poppins" panose="020B0604020202020204" charset="0"/>
                <a:cs typeface="Poppins" panose="020B0604020202020204" charset="0"/>
              </a:rPr>
              <a:t> pada </a:t>
            </a:r>
            <a:r>
              <a:rPr lang="en-GB" sz="1800" dirty="0" err="1">
                <a:latin typeface="Poppins" panose="020B0604020202020204" charset="0"/>
                <a:cs typeface="Poppins" panose="020B0604020202020204" charset="0"/>
              </a:rPr>
              <a:t>bulan</a:t>
            </a:r>
            <a:r>
              <a:rPr lang="en-GB" sz="1800" dirty="0">
                <a:latin typeface="Poppins" panose="020B0604020202020204" charset="0"/>
                <a:cs typeface="Poppins" panose="020B0604020202020204" charset="0"/>
              </a:rPr>
              <a:t> April. </a:t>
            </a:r>
          </a:p>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Konsentrasi</a:t>
            </a:r>
            <a:r>
              <a:rPr lang="en-GB" sz="1800" dirty="0">
                <a:latin typeface="Poppins" panose="020B0604020202020204" charset="0"/>
                <a:cs typeface="Poppins" panose="020B0604020202020204" charset="0"/>
              </a:rPr>
              <a:t> SKU: </a:t>
            </a:r>
            <a:r>
              <a:rPr lang="en-GB" sz="1800" dirty="0" err="1">
                <a:latin typeface="Poppins" panose="020B0604020202020204" charset="0"/>
                <a:cs typeface="Poppins" panose="020B0604020202020204" charset="0"/>
              </a:rPr>
              <a:t>Produk</a:t>
            </a:r>
            <a:r>
              <a:rPr lang="en-GB" sz="1800" dirty="0">
                <a:latin typeface="Poppins" panose="020B0604020202020204" charset="0"/>
                <a:cs typeface="Poppins" panose="020B0604020202020204" charset="0"/>
              </a:rPr>
              <a:t> 26 &amp; 25 </a:t>
            </a:r>
            <a:r>
              <a:rPr lang="en-GB" sz="1800" dirty="0" err="1">
                <a:latin typeface="Poppins" panose="020B0604020202020204" charset="0"/>
                <a:cs typeface="Poppins" panose="020B0604020202020204" charset="0"/>
              </a:rPr>
              <a:t>bersama-sama</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mendorong</a:t>
            </a:r>
            <a:r>
              <a:rPr lang="en-GB" sz="1800" dirty="0">
                <a:latin typeface="Poppins" panose="020B0604020202020204" charset="0"/>
                <a:cs typeface="Poppins" panose="020B0604020202020204" charset="0"/>
              </a:rPr>
              <a:t> ~25% </a:t>
            </a:r>
            <a:r>
              <a:rPr lang="en-GB" sz="1800" dirty="0" err="1">
                <a:latin typeface="Poppins" panose="020B0604020202020204" charset="0"/>
                <a:cs typeface="Poppins" panose="020B0604020202020204" charset="0"/>
              </a:rPr>
              <a:t>dari</a:t>
            </a:r>
            <a:r>
              <a:rPr lang="en-GB" sz="1800" dirty="0">
                <a:latin typeface="Poppins" panose="020B0604020202020204" charset="0"/>
                <a:cs typeface="Poppins" panose="020B0604020202020204" charset="0"/>
              </a:rPr>
              <a:t> total </a:t>
            </a:r>
            <a:r>
              <a:rPr lang="en-GB" sz="1800" dirty="0" err="1">
                <a:latin typeface="Poppins" panose="020B0604020202020204" charset="0"/>
                <a:cs typeface="Poppins" panose="020B0604020202020204" charset="0"/>
              </a:rPr>
              <a:t>penjualan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Pertukaran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Saluran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Grosir</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meraih</a:t>
            </a:r>
            <a:r>
              <a:rPr lang="en-GB" sz="1800" dirty="0">
                <a:latin typeface="Poppins" panose="020B0604020202020204" charset="0"/>
                <a:cs typeface="Poppins" panose="020B0604020202020204" charset="0"/>
              </a:rPr>
              <a:t> 54% </a:t>
            </a:r>
            <a:r>
              <a:rPr lang="en-GB" sz="1800" dirty="0" err="1">
                <a:latin typeface="Poppins" panose="020B0604020202020204" charset="0"/>
                <a:cs typeface="Poppins" panose="020B0604020202020204" charset="0"/>
              </a:rPr>
              <a:t>dari</a:t>
            </a:r>
            <a:r>
              <a:rPr lang="en-GB" sz="1800" dirty="0">
                <a:latin typeface="Poppins" panose="020B0604020202020204" charset="0"/>
                <a:cs typeface="Poppins" panose="020B0604020202020204" charset="0"/>
              </a:rPr>
              <a:t> volume; </a:t>
            </a:r>
            <a:r>
              <a:rPr lang="en-GB" sz="1800" dirty="0" err="1">
                <a:latin typeface="Poppins" panose="020B0604020202020204" charset="0"/>
                <a:cs typeface="Poppins" panose="020B0604020202020204" charset="0"/>
              </a:rPr>
              <a:t>Ekspor</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memimpin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dengan</a:t>
            </a:r>
            <a:r>
              <a:rPr lang="en-GB" sz="1800" dirty="0">
                <a:latin typeface="Poppins" panose="020B0604020202020204" charset="0"/>
                <a:cs typeface="Poppins" panose="020B0604020202020204" charset="0"/>
              </a:rPr>
              <a:t> margin rata-rata ~38%. </a:t>
            </a:r>
          </a:p>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Dominasi</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Geografis</a:t>
            </a:r>
            <a:r>
              <a:rPr lang="en-GB" sz="1800" dirty="0">
                <a:latin typeface="Poppins" panose="020B0604020202020204" charset="0"/>
                <a:cs typeface="Poppins" panose="020B0604020202020204" charset="0"/>
              </a:rPr>
              <a:t>: California </a:t>
            </a:r>
            <a:r>
              <a:rPr lang="en-GB" sz="1800" dirty="0" err="1">
                <a:latin typeface="Poppins" panose="020B0604020202020204" charset="0"/>
                <a:cs typeface="Poppins" panose="020B0604020202020204" charset="0"/>
              </a:rPr>
              <a:t>saja</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mencatat</a:t>
            </a:r>
            <a:r>
              <a:rPr lang="en-GB" sz="1800" dirty="0">
                <a:latin typeface="Poppins" panose="020B0604020202020204" charset="0"/>
                <a:cs typeface="Poppins" panose="020B0604020202020204" charset="0"/>
              </a:rPr>
              <a:t> 7,6 </a:t>
            </a:r>
            <a:r>
              <a:rPr lang="en-GB" sz="1800" dirty="0" err="1">
                <a:latin typeface="Poppins" panose="020B0604020202020204" charset="0"/>
                <a:cs typeface="Poppins" panose="020B0604020202020204" charset="0"/>
              </a:rPr>
              <a:t>ribu</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pesanan</a:t>
            </a:r>
            <a:r>
              <a:rPr lang="en-GB" sz="1800" dirty="0">
                <a:latin typeface="Poppins" panose="020B0604020202020204" charset="0"/>
                <a:cs typeface="Poppins" panose="020B0604020202020204" charset="0"/>
              </a:rPr>
              <a:t> ($230 </a:t>
            </a:r>
            <a:r>
              <a:rPr lang="en-GB" sz="1800" dirty="0" err="1">
                <a:latin typeface="Poppins" panose="020B0604020202020204" charset="0"/>
                <a:cs typeface="Poppins" panose="020B0604020202020204" charset="0"/>
              </a:rPr>
              <a:t>juta</a:t>
            </a:r>
            <a:r>
              <a:rPr lang="en-GB" sz="1800" dirty="0">
                <a:latin typeface="Poppins" panose="020B0604020202020204" charset="0"/>
                <a:cs typeface="Poppins" panose="020B0604020202020204" charset="0"/>
              </a:rPr>
              <a:t>); wilayah Barat </a:t>
            </a:r>
            <a:r>
              <a:rPr lang="en-GB" sz="1800" dirty="0" err="1">
                <a:latin typeface="Poppins" panose="020B0604020202020204" charset="0"/>
                <a:cs typeface="Poppins" panose="020B0604020202020204" charset="0"/>
              </a:rPr>
              <a:t>menunjukkan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fluktuasi</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terbesar</a:t>
            </a:r>
            <a:r>
              <a:rPr lang="en-GB" sz="1800" dirty="0">
                <a:latin typeface="Poppins" panose="020B0604020202020204" charset="0"/>
                <a:cs typeface="Poppins" panose="020B0604020202020204" charset="0"/>
              </a:rPr>
              <a:t>. </a:t>
            </a:r>
          </a:p>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Aibox</a:t>
            </a:r>
            <a:r>
              <a:rPr lang="en-GB" sz="1800" dirty="0">
                <a:latin typeface="Poppins" panose="020B0604020202020204" charset="0"/>
                <a:cs typeface="Poppins" panose="020B0604020202020204" charset="0"/>
              </a:rPr>
              <a:t> Company dan State Ltd </a:t>
            </a:r>
            <a:r>
              <a:rPr lang="en-GB" sz="1800" dirty="0" err="1">
                <a:latin typeface="Poppins" panose="020B0604020202020204" charset="0"/>
                <a:cs typeface="Poppins" panose="020B0604020202020204" charset="0"/>
              </a:rPr>
              <a:t>adalah</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pelanggan</a:t>
            </a:r>
            <a:r>
              <a:rPr lang="en-GB" sz="1800" dirty="0">
                <a:latin typeface="Poppins" panose="020B0604020202020204" charset="0"/>
                <a:cs typeface="Poppins" panose="020B0604020202020204" charset="0"/>
              </a:rPr>
              <a:t> paling </a:t>
            </a:r>
            <a:r>
              <a:rPr lang="en-GB" sz="1800" dirty="0" err="1">
                <a:latin typeface="Poppins" panose="020B0604020202020204" charset="0"/>
                <a:cs typeface="Poppins" panose="020B0604020202020204" charset="0"/>
              </a:rPr>
              <a:t>berharga</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dalam</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hal</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Pendapatan</a:t>
            </a:r>
            <a:r>
              <a:rPr lang="en-GB" sz="1800" dirty="0">
                <a:latin typeface="Poppins" panose="020B0604020202020204" charset="0"/>
                <a:cs typeface="Poppins" panose="020B0604020202020204" charset="0"/>
              </a:rPr>
              <a:t>.</a:t>
            </a:r>
            <a:endParaRPr lang="en-IN" sz="1800" dirty="0">
              <a:latin typeface="Poppins" panose="020B0604020202020204" charset="0"/>
              <a:cs typeface="Poppins" panose="020B0604020202020204" charset="0"/>
            </a:endParaRPr>
          </a:p>
        </p:txBody>
      </p:sp>
      <p:sp>
        <p:nvSpPr>
          <p:cNvPr id="14" name="Oval 13">
            <a:extLst>
              <a:ext uri="{FF2B5EF4-FFF2-40B4-BE49-F238E27FC236}">
                <a16:creationId xmlns:a16="http://schemas.microsoft.com/office/drawing/2014/main" id="{353109F4-10B3-441A-97F7-381BC24E7883}"/>
              </a:ext>
            </a:extLst>
          </p:cNvPr>
          <p:cNvSpPr/>
          <p:nvPr/>
        </p:nvSpPr>
        <p:spPr>
          <a:xfrm>
            <a:off x="527390" y="475911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64E0663E-C064-41DE-A025-E5D03F06F96E}"/>
              </a:ext>
            </a:extLst>
          </p:cNvPr>
          <p:cNvSpPr/>
          <p:nvPr/>
        </p:nvSpPr>
        <p:spPr>
          <a:xfrm>
            <a:off x="512525" y="3941560"/>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498EDB6-D906-4919-84C8-05A8BFB0C35F}"/>
              </a:ext>
            </a:extLst>
          </p:cNvPr>
          <p:cNvSpPr/>
          <p:nvPr/>
        </p:nvSpPr>
        <p:spPr>
          <a:xfrm>
            <a:off x="527771" y="312400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A1858F85-53B7-46EF-A995-0E1C7217880C}"/>
              </a:ext>
            </a:extLst>
          </p:cNvPr>
          <p:cNvSpPr/>
          <p:nvPr/>
        </p:nvSpPr>
        <p:spPr>
          <a:xfrm>
            <a:off x="527390" y="199649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548245C-3A20-459A-92C5-AF9BAE8FAC8A}"/>
              </a:ext>
            </a:extLst>
          </p:cNvPr>
          <p:cNvSpPr/>
          <p:nvPr/>
        </p:nvSpPr>
        <p:spPr>
          <a:xfrm>
            <a:off x="527390" y="2547301"/>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2890132-0527-4A5E-83E8-2C03B1F118FF}"/>
              </a:ext>
            </a:extLst>
          </p:cNvPr>
          <p:cNvSpPr txBox="1"/>
          <p:nvPr/>
        </p:nvSpPr>
        <p:spPr>
          <a:xfrm>
            <a:off x="3121572" y="304790"/>
            <a:ext cx="3978597" cy="584775"/>
          </a:xfrm>
          <a:prstGeom prst="rect">
            <a:avLst/>
          </a:prstGeom>
          <a:noFill/>
        </p:spPr>
        <p:txBody>
          <a:bodyPr wrap="square">
            <a:spAutoFit/>
          </a:bodyPr>
          <a:lstStyle/>
          <a:p>
            <a:r>
              <a:rPr lang="en-IN" sz="3200" b="1">
                <a:solidFill>
                  <a:srgbClr val="000000">
                    <a:lumMod val="65000"/>
                    <a:lumOff val="35000"/>
                  </a:srgbClr>
                </a:solidFill>
                <a:latin typeface="Poppins"/>
                <a:cs typeface="Poppins"/>
                <a:sym typeface="Poppins"/>
              </a:rPr>
              <a:t>Wawasan Utama</a:t>
            </a:r>
            <a:endParaRPr lang="en-IN" dirty="0"/>
          </a:p>
        </p:txBody>
      </p:sp>
      <p:pic>
        <p:nvPicPr>
          <p:cNvPr id="3" name="Picture 2">
            <a:extLst>
              <a:ext uri="{FF2B5EF4-FFF2-40B4-BE49-F238E27FC236}">
                <a16:creationId xmlns:a16="http://schemas.microsoft.com/office/drawing/2014/main"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29</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2800" b="1">
                <a:solidFill>
                  <a:srgbClr val="FFFFFF"/>
                </a:solidFill>
                <a:latin typeface="Poppins"/>
                <a:ea typeface="Poppins"/>
                <a:cs typeface="Poppins"/>
                <a:sym typeface="Poppins"/>
              </a:rPr>
              <a:t>Rekomendasi</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14792"/>
            <a:ext cx="11303283" cy="3375283"/>
          </a:xfrm>
          <a:prstGeom prst="rect">
            <a:avLst/>
          </a:prstGeom>
          <a:noFill/>
        </p:spPr>
        <p:txBody>
          <a:bodyPr wrap="square">
            <a:spAutoFit/>
          </a:bodyPr>
          <a:lstStyle/>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Promosi</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Musiman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Luncurkan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kampanye</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pemulihan</a:t>
            </a:r>
            <a:r>
              <a:rPr lang="en-GB" sz="1800" dirty="0">
                <a:latin typeface="Poppins" panose="020B0604020202020204" charset="0"/>
                <a:cs typeface="Poppins" panose="020B0604020202020204" charset="0"/>
              </a:rPr>
              <a:t> pada </a:t>
            </a:r>
            <a:r>
              <a:rPr lang="en-GB" sz="1800" dirty="0" err="1">
                <a:latin typeface="Poppins" panose="020B0604020202020204" charset="0"/>
                <a:cs typeface="Poppins" panose="020B0604020202020204" charset="0"/>
              </a:rPr>
              <a:t>bulan</a:t>
            </a:r>
            <a:r>
              <a:rPr lang="en-GB" sz="1800" dirty="0">
                <a:latin typeface="Poppins" panose="020B0604020202020204" charset="0"/>
                <a:cs typeface="Poppins" panose="020B0604020202020204" charset="0"/>
              </a:rPr>
              <a:t> April dan </a:t>
            </a:r>
            <a:r>
              <a:rPr lang="en-GB" sz="1800" dirty="0" err="1">
                <a:latin typeface="Poppins" panose="020B0604020202020204" charset="0"/>
                <a:cs typeface="Poppins" panose="020B0604020202020204" charset="0"/>
              </a:rPr>
              <a:t>perkuat</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penawaran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Januari</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untuk</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melancarkan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fluktuasi</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pendapatan</a:t>
            </a:r>
            <a:r>
              <a:rPr lang="en-GB" sz="1800" dirty="0">
                <a:latin typeface="Poppins" panose="020B0604020202020204" charset="0"/>
                <a:cs typeface="Poppins" panose="020B0604020202020204" charset="0"/>
              </a:rPr>
              <a:t>. </a:t>
            </a:r>
          </a:p>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Optimasi</a:t>
            </a:r>
            <a:r>
              <a:rPr lang="en-GB" sz="1800" dirty="0">
                <a:latin typeface="Poppins" panose="020B0604020202020204" charset="0"/>
                <a:cs typeface="Poppins" panose="020B0604020202020204" charset="0"/>
              </a:rPr>
              <a:t> SKU: </a:t>
            </a:r>
            <a:r>
              <a:rPr lang="en-GB" sz="1800" dirty="0" err="1">
                <a:latin typeface="Poppins" panose="020B0604020202020204" charset="0"/>
                <a:cs typeface="Poppins" panose="020B0604020202020204" charset="0"/>
              </a:rPr>
              <a:t>Tingkatkan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fokus</a:t>
            </a:r>
            <a:r>
              <a:rPr lang="en-GB" sz="1800" dirty="0">
                <a:latin typeface="Poppins" panose="020B0604020202020204" charset="0"/>
                <a:cs typeface="Poppins" panose="020B0604020202020204" charset="0"/>
              </a:rPr>
              <a:t> pada </a:t>
            </a:r>
            <a:r>
              <a:rPr lang="en-GB" sz="1800" dirty="0" err="1">
                <a:latin typeface="Poppins" panose="020B0604020202020204" charset="0"/>
                <a:cs typeface="Poppins" panose="020B0604020202020204" charset="0"/>
              </a:rPr>
              <a:t>produk</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teratas</a:t>
            </a:r>
            <a:r>
              <a:rPr lang="en-GB" sz="1800" dirty="0">
                <a:latin typeface="Poppins" panose="020B0604020202020204" charset="0"/>
                <a:cs typeface="Poppins" panose="020B0604020202020204" charset="0"/>
              </a:rPr>
              <a:t> 26 &amp; 25 dan </a:t>
            </a:r>
            <a:r>
              <a:rPr lang="en-GB" sz="1800" dirty="0" err="1">
                <a:latin typeface="Poppins" panose="020B0604020202020204" charset="0"/>
                <a:cs typeface="Poppins" panose="020B0604020202020204" charset="0"/>
              </a:rPr>
              <a:t>evaluasi</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ulang</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harga</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atau</a:t>
            </a:r>
            <a:r>
              <a:rPr lang="en-GB" sz="1800" dirty="0">
                <a:latin typeface="Poppins" panose="020B0604020202020204" charset="0"/>
                <a:cs typeface="Poppins" panose="020B0604020202020204" charset="0"/>
              </a:rPr>
              <a:t> hapus SKU </a:t>
            </a:r>
            <a:r>
              <a:rPr lang="en-GB" sz="1800" dirty="0" err="1">
                <a:latin typeface="Poppins" panose="020B0604020202020204" charset="0"/>
                <a:cs typeface="Poppins" panose="020B0604020202020204" charset="0"/>
              </a:rPr>
              <a:t>dengan</a:t>
            </a:r>
            <a:r>
              <a:rPr lang="en-GB" sz="1800" dirty="0">
                <a:latin typeface="Poppins" panose="020B0604020202020204" charset="0"/>
                <a:cs typeface="Poppins" panose="020B0604020202020204" charset="0"/>
              </a:rPr>
              <a:t> margin </a:t>
            </a:r>
            <a:r>
              <a:rPr lang="en-GB" sz="1800" dirty="0" err="1">
                <a:latin typeface="Poppins" panose="020B0604020202020204" charset="0"/>
                <a:cs typeface="Poppins" panose="020B0604020202020204" charset="0"/>
              </a:rPr>
              <a:t>rendah</a:t>
            </a:r>
            <a:r>
              <a:rPr lang="en-GB" sz="1800" dirty="0">
                <a:latin typeface="Poppins" panose="020B0604020202020204" charset="0"/>
                <a:cs typeface="Poppins" panose="020B0604020202020204" charset="0"/>
              </a:rPr>
              <a:t>. </a:t>
            </a:r>
          </a:p>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Perluasan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Saluran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Berikan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insentif</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kemitraan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ekspor</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untuk</a:t>
            </a:r>
            <a:r>
              <a:rPr lang="en-GB" sz="1800" dirty="0">
                <a:latin typeface="Poppins" panose="020B0604020202020204" charset="0"/>
                <a:cs typeface="Poppins" panose="020B0604020202020204" charset="0"/>
              </a:rPr>
              <a:t> margin </a:t>
            </a:r>
            <a:r>
              <a:rPr lang="en-GB" sz="1800" dirty="0" err="1">
                <a:latin typeface="Poppins" panose="020B0604020202020204" charset="0"/>
                <a:cs typeface="Poppins" panose="020B0604020202020204" charset="0"/>
              </a:rPr>
              <a:t>tinggi</a:t>
            </a:r>
            <a:r>
              <a:rPr lang="en-GB" sz="1800" dirty="0">
                <a:latin typeface="Poppins" panose="020B0604020202020204" charset="0"/>
                <a:cs typeface="Poppins" panose="020B0604020202020204" charset="0"/>
              </a:rPr>
              <a:t> dan </a:t>
            </a:r>
            <a:r>
              <a:rPr lang="en-GB" sz="1800" dirty="0" err="1">
                <a:latin typeface="Poppins" panose="020B0604020202020204" charset="0"/>
                <a:cs typeface="Poppins" panose="020B0604020202020204" charset="0"/>
              </a:rPr>
              <a:t>perkenalkan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kesepakatan</a:t>
            </a:r>
            <a:r>
              <a:rPr lang="en-GB" sz="1800" dirty="0">
                <a:latin typeface="Poppins" panose="020B0604020202020204" charset="0"/>
                <a:cs typeface="Poppins" panose="020B0604020202020204" charset="0"/>
              </a:rPr>
              <a:t> volume di </a:t>
            </a:r>
            <a:r>
              <a:rPr lang="en-GB" sz="1800" dirty="0" err="1">
                <a:latin typeface="Poppins" panose="020B0604020202020204" charset="0"/>
                <a:cs typeface="Poppins" panose="020B0604020202020204" charset="0"/>
              </a:rPr>
              <a:t>Grosir</a:t>
            </a:r>
            <a:r>
              <a:rPr lang="en-GB" sz="1800" dirty="0">
                <a:latin typeface="Poppins" panose="020B0604020202020204" charset="0"/>
                <a:cs typeface="Poppins" panose="020B0604020202020204" charset="0"/>
              </a:rPr>
              <a:t>. </a:t>
            </a:r>
          </a:p>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Investasi</a:t>
            </a:r>
            <a:r>
              <a:rPr lang="en-GB" sz="1800" dirty="0">
                <a:latin typeface="Poppins" panose="020B0604020202020204" charset="0"/>
                <a:cs typeface="Poppins" panose="020B0604020202020204" charset="0"/>
              </a:rPr>
              <a:t> Regional: </a:t>
            </a:r>
            <a:r>
              <a:rPr lang="en-GB" sz="1800" dirty="0" err="1">
                <a:latin typeface="Poppins" panose="020B0604020202020204" charset="0"/>
                <a:cs typeface="Poppins" panose="020B0604020202020204" charset="0"/>
              </a:rPr>
              <a:t>Tirukan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kesuksesan</a:t>
            </a:r>
            <a:r>
              <a:rPr lang="en-GB" sz="1800" dirty="0">
                <a:latin typeface="Poppins" panose="020B0604020202020204" charset="0"/>
                <a:cs typeface="Poppins" panose="020B0604020202020204" charset="0"/>
              </a:rPr>
              <a:t> California di wilayah lain dan </a:t>
            </a:r>
            <a:r>
              <a:rPr lang="en-GB" sz="1800" dirty="0" err="1">
                <a:latin typeface="Poppins" panose="020B0604020202020204" charset="0"/>
                <a:cs typeface="Poppins" panose="020B0604020202020204" charset="0"/>
              </a:rPr>
              <a:t>tingkatkan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pemasaran</a:t>
            </a:r>
            <a:r>
              <a:rPr lang="en-GB" sz="1800" dirty="0">
                <a:latin typeface="Poppins" panose="020B0604020202020204" charset="0"/>
                <a:cs typeface="Poppins" panose="020B0604020202020204" charset="0"/>
              </a:rPr>
              <a:t> di Timur </a:t>
            </a:r>
            <a:r>
              <a:rPr lang="en-GB" sz="1800" dirty="0" err="1">
                <a:latin typeface="Poppins" panose="020B0604020202020204" charset="0"/>
                <a:cs typeface="Poppins" panose="020B0604020202020204" charset="0"/>
              </a:rPr>
              <a:t>Laut</a:t>
            </a:r>
            <a:r>
              <a:rPr lang="en-GB" sz="1800" dirty="0">
                <a:latin typeface="Poppins" panose="020B0604020202020204" charset="0"/>
                <a:cs typeface="Poppins" panose="020B0604020202020204" charset="0"/>
              </a:rPr>
              <a:t> &amp; Midwest. </a:t>
            </a:r>
          </a:p>
          <a:p>
            <a:pPr marL="285750" indent="-285750">
              <a:spcBef>
                <a:spcPts val="1000"/>
              </a:spcBef>
              <a:buFont typeface="Arial" panose="020B0604020202020204" pitchFamily="34" charset="0"/>
              <a:buChar char="•"/>
            </a:pPr>
            <a:r>
              <a:rPr lang="en-GB" sz="1800" dirty="0" err="1">
                <a:latin typeface="Poppins" panose="020B0604020202020204" charset="0"/>
                <a:cs typeface="Poppins" panose="020B0604020202020204" charset="0"/>
              </a:rPr>
              <a:t>Pemantauan</a:t>
            </a:r>
            <a:r>
              <a:rPr lang="en-GB" sz="1800" dirty="0">
                <a:latin typeface="Poppins" panose="020B0604020202020204" charset="0"/>
                <a:cs typeface="Poppins" panose="020B0604020202020204" charset="0"/>
              </a:rPr>
              <a:t> Margin: </a:t>
            </a:r>
            <a:r>
              <a:rPr lang="en-GB" sz="1800" dirty="0" err="1">
                <a:latin typeface="Poppins" panose="020B0604020202020204" charset="0"/>
                <a:cs typeface="Poppins" panose="020B0604020202020204" charset="0"/>
              </a:rPr>
              <a:t>Tandai</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pesanan</a:t>
            </a:r>
            <a:r>
              <a:rPr lang="en-GB" sz="1800" dirty="0">
                <a:latin typeface="Poppins" panose="020B0604020202020204" charset="0"/>
                <a:cs typeface="Poppins" panose="020B0604020202020204" charset="0"/>
              </a:rPr>
              <a:t> di </a:t>
            </a:r>
            <a:r>
              <a:rPr lang="en-GB" sz="1800" dirty="0" err="1">
                <a:latin typeface="Poppins" panose="020B0604020202020204" charset="0"/>
                <a:cs typeface="Poppins" panose="020B0604020202020204" charset="0"/>
              </a:rPr>
              <a:t>bawah</a:t>
            </a:r>
            <a:r>
              <a:rPr lang="en-GB" sz="1800" dirty="0">
                <a:latin typeface="Poppins" panose="020B0604020202020204" charset="0"/>
                <a:cs typeface="Poppins" panose="020B0604020202020204" charset="0"/>
              </a:rPr>
              <a:t> margin 80% dan </a:t>
            </a:r>
            <a:r>
              <a:rPr lang="en-GB" sz="1800" dirty="0" err="1">
                <a:latin typeface="Poppins" panose="020B0604020202020204" charset="0"/>
                <a:cs typeface="Poppins" panose="020B0604020202020204" charset="0"/>
              </a:rPr>
              <a:t>analisis</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pendorong</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biaya</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untuk</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meningkatkan</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segmen</a:t>
            </a:r>
            <a:r>
              <a:rPr lang="en-GB" sz="1800" dirty="0">
                <a:latin typeface="Poppins" panose="020B0604020202020204" charset="0"/>
                <a:cs typeface="Poppins" panose="020B0604020202020204" charset="0"/>
              </a:rPr>
              <a:t> yang </a:t>
            </a:r>
            <a:r>
              <a:rPr lang="en-GB" sz="1800" dirty="0" err="1">
                <a:latin typeface="Poppins" panose="020B0604020202020204" charset="0"/>
                <a:cs typeface="Poppins" panose="020B0604020202020204" charset="0"/>
              </a:rPr>
              <a:t>kurang</a:t>
            </a:r>
            <a:r>
              <a:rPr lang="en-GB" sz="1800" dirty="0">
                <a:latin typeface="Poppins" panose="020B0604020202020204" charset="0"/>
                <a:cs typeface="Poppins" panose="020B0604020202020204" charset="0"/>
              </a:rPr>
              <a:t> </a:t>
            </a:r>
            <a:r>
              <a:rPr lang="en-GB" sz="1800" dirty="0" err="1">
                <a:latin typeface="Poppins" panose="020B0604020202020204" charset="0"/>
                <a:cs typeface="Poppins" panose="020B0604020202020204" charset="0"/>
              </a:rPr>
              <a:t>berperforma</a:t>
            </a:r>
            <a:r>
              <a:rPr lang="en-GB" sz="1800" dirty="0">
                <a:latin typeface="Poppins" panose="020B0604020202020204" charset="0"/>
                <a:cs typeface="Poppins" panose="020B0604020202020204" charset="0"/>
              </a:rPr>
              <a:t>.</a:t>
            </a:r>
            <a:endParaRPr lang="en-IN" sz="18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77055" y="175265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1400" y="255021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77055" y="336338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38A4CC3-DB46-44AD-BB29-BD6BA46686DB}"/>
              </a:ext>
            </a:extLst>
          </p:cNvPr>
          <p:cNvSpPr/>
          <p:nvPr/>
        </p:nvSpPr>
        <p:spPr>
          <a:xfrm>
            <a:off x="477055" y="419510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F82211C-C064-4556-A886-C9550795DB0D}"/>
              </a:ext>
            </a:extLst>
          </p:cNvPr>
          <p:cNvSpPr/>
          <p:nvPr/>
        </p:nvSpPr>
        <p:spPr>
          <a:xfrm>
            <a:off x="475272" y="502682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id="{83D71369-AFB0-40E1-B98D-52352B364C5E}"/>
              </a:ext>
            </a:extLst>
          </p:cNvPr>
          <p:cNvSpPr txBox="1"/>
          <p:nvPr/>
        </p:nvSpPr>
        <p:spPr>
          <a:xfrm>
            <a:off x="3336173" y="335567"/>
            <a:ext cx="4455277" cy="584775"/>
          </a:xfrm>
          <a:prstGeom prst="rect">
            <a:avLst/>
          </a:prstGeom>
          <a:noFill/>
        </p:spPr>
        <p:txBody>
          <a:bodyPr wrap="square">
            <a:spAutoFit/>
          </a:bodyPr>
          <a:lstStyle/>
          <a:p>
            <a:r>
              <a:rPr lang="en-IN" sz="3200" b="1">
                <a:solidFill>
                  <a:srgbClr val="000000">
                    <a:lumMod val="65000"/>
                    <a:lumOff val="35000"/>
                  </a:srgbClr>
                </a:solidFill>
                <a:latin typeface="Poppins"/>
                <a:cs typeface="Poppins"/>
                <a:sym typeface="Poppins"/>
              </a:rPr>
              <a:t>Rekomendasi</a:t>
            </a:r>
            <a:endParaRPr lang="en-IN" sz="3200" dirty="0"/>
          </a:p>
        </p:txBody>
      </p:sp>
    </p:spTree>
    <p:extLst>
      <p:ext uri="{BB962C8B-B14F-4D97-AF65-F5344CB8AC3E}">
        <p14:creationId xmlns:p14="http://schemas.microsoft.com/office/powerpoint/2010/main" val="284512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2800" b="1">
                <a:solidFill>
                  <a:srgbClr val="FFFFFF"/>
                </a:solidFill>
                <a:latin typeface="Poppins"/>
                <a:ea typeface="Poppins"/>
                <a:cs typeface="Poppins"/>
                <a:sym typeface="Poppins"/>
              </a:rPr>
              <a:t>Pratinjau Dasbor</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457610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6161387" cy="430887"/>
          </a:xfrm>
          <a:prstGeom prst="rect">
            <a:avLst/>
          </a:prstGeom>
          <a:noFill/>
          <a:ln>
            <a:noFill/>
          </a:ln>
        </p:spPr>
        <p:txBody>
          <a:bodyPr spcFirstLastPara="1" wrap="square" lIns="0" tIns="0" rIns="0" bIns="0" anchor="t" anchorCtr="0">
            <a:spAutoFit/>
          </a:bodyPr>
          <a:lstStyle/>
          <a:p>
            <a:pPr lvl="0"/>
            <a:r>
              <a:rPr lang="en-IN">
                <a:solidFill>
                  <a:schemeClr val="tx1">
                    <a:lumMod val="75000"/>
                    <a:lumOff val="25000"/>
                  </a:schemeClr>
                </a:solidFill>
              </a:rPr>
              <a:t>Halaman 1 - Ringkasan Kinerja</a:t>
            </a:r>
            <a:endParaRPr dirty="0">
              <a:solidFill>
                <a:schemeClr val="tx1">
                  <a:lumMod val="75000"/>
                  <a:lumOff val="25000"/>
                </a:schemeClr>
              </a:solidFill>
            </a:endParaRPr>
          </a:p>
        </p:txBody>
      </p:sp>
      <p:pic>
        <p:nvPicPr>
          <p:cNvPr id="11" name="Picture 10">
            <a:extLst>
              <a:ext uri="{FF2B5EF4-FFF2-40B4-BE49-F238E27FC236}">
                <a16:creationId xmlns:a16="http://schemas.microsoft.com/office/drawing/2014/main" id="{8C79C051-53B8-6527-F869-85F327ABAF41}"/>
              </a:ext>
            </a:extLst>
          </p:cNvPr>
          <p:cNvPicPr>
            <a:picLocks noChangeAspect="1"/>
          </p:cNvPicPr>
          <p:nvPr/>
        </p:nvPicPr>
        <p:blipFill>
          <a:blip r:embed="rId5"/>
          <a:stretch>
            <a:fillRect/>
          </a:stretch>
        </p:blipFill>
        <p:spPr>
          <a:xfrm>
            <a:off x="1080922" y="844087"/>
            <a:ext cx="10182527" cy="5690236"/>
          </a:xfrm>
          <a:prstGeom prst="rect">
            <a:avLst/>
          </a:prstGeom>
        </p:spPr>
      </p:pic>
    </p:spTree>
    <p:extLst>
      <p:ext uri="{BB962C8B-B14F-4D97-AF65-F5344CB8AC3E}">
        <p14:creationId xmlns:p14="http://schemas.microsoft.com/office/powerpoint/2010/main" val="2738212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9473547" cy="430887"/>
          </a:xfrm>
          <a:prstGeom prst="rect">
            <a:avLst/>
          </a:prstGeom>
          <a:noFill/>
          <a:ln>
            <a:noFill/>
          </a:ln>
        </p:spPr>
        <p:txBody>
          <a:bodyPr spcFirstLastPara="1" wrap="square" lIns="0" tIns="0" rIns="0" bIns="0" anchor="t" anchorCtr="0">
            <a:spAutoFit/>
          </a:bodyPr>
          <a:lstStyle/>
          <a:p>
            <a:pPr lvl="0"/>
            <a:r>
              <a:rPr lang="en-IN">
                <a:solidFill>
                  <a:schemeClr val="tx1">
                    <a:lumMod val="75000"/>
                    <a:lumOff val="25000"/>
                  </a:schemeClr>
                </a:solidFill>
              </a:rPr>
              <a:t>Halaman 2 - Segmentasi Pelanggan</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DCD1C92A-2575-EFB7-7B71-E88689C07236}"/>
              </a:ext>
            </a:extLst>
          </p:cNvPr>
          <p:cNvPicPr>
            <a:picLocks noChangeAspect="1"/>
          </p:cNvPicPr>
          <p:nvPr/>
        </p:nvPicPr>
        <p:blipFill>
          <a:blip r:embed="rId5"/>
          <a:stretch>
            <a:fillRect/>
          </a:stretch>
        </p:blipFill>
        <p:spPr>
          <a:xfrm>
            <a:off x="1162372" y="829353"/>
            <a:ext cx="10295687" cy="5704970"/>
          </a:xfrm>
          <a:prstGeom prst="rect">
            <a:avLst/>
          </a:prstGeom>
        </p:spPr>
      </p:pic>
    </p:spTree>
    <p:extLst>
      <p:ext uri="{BB962C8B-B14F-4D97-AF65-F5344CB8AC3E}">
        <p14:creationId xmlns:p14="http://schemas.microsoft.com/office/powerpoint/2010/main" val="16701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4" y="323677"/>
            <a:ext cx="7042854" cy="430887"/>
          </a:xfrm>
          <a:prstGeom prst="rect">
            <a:avLst/>
          </a:prstGeom>
          <a:noFill/>
          <a:ln>
            <a:noFill/>
          </a:ln>
        </p:spPr>
        <p:txBody>
          <a:bodyPr spcFirstLastPara="1" wrap="square" lIns="0" tIns="0" rIns="0" bIns="0" anchor="t" anchorCtr="0">
            <a:spAutoFit/>
          </a:bodyPr>
          <a:lstStyle/>
          <a:p>
            <a:pPr lvl="0"/>
            <a:r>
              <a:rPr lang="en-IN">
                <a:solidFill>
                  <a:schemeClr val="tx1">
                    <a:lumMod val="75000"/>
                    <a:lumOff val="25000"/>
                  </a:schemeClr>
                </a:solidFill>
              </a:rPr>
              <a:t>Halaman 3 - Skenario Pendapatan</a:t>
            </a:r>
            <a:endParaRPr dirty="0">
              <a:solidFill>
                <a:schemeClr val="tx1">
                  <a:lumMod val="75000"/>
                  <a:lumOff val="25000"/>
                </a:schemeClr>
              </a:solidFill>
            </a:endParaRPr>
          </a:p>
        </p:txBody>
      </p:sp>
      <p:pic>
        <p:nvPicPr>
          <p:cNvPr id="6" name="Picture 5">
            <a:extLst>
              <a:ext uri="{FF2B5EF4-FFF2-40B4-BE49-F238E27FC236}">
                <a16:creationId xmlns:a16="http://schemas.microsoft.com/office/drawing/2014/main" id="{8FE57F27-07B0-A618-E5FE-E587B939E7D7}"/>
              </a:ext>
            </a:extLst>
          </p:cNvPr>
          <p:cNvPicPr>
            <a:picLocks noChangeAspect="1"/>
          </p:cNvPicPr>
          <p:nvPr/>
        </p:nvPicPr>
        <p:blipFill>
          <a:blip r:embed="rId5"/>
          <a:stretch>
            <a:fillRect/>
          </a:stretch>
        </p:blipFill>
        <p:spPr>
          <a:xfrm>
            <a:off x="948762" y="859749"/>
            <a:ext cx="10294476" cy="5696943"/>
          </a:xfrm>
          <a:prstGeom prst="rect">
            <a:avLst/>
          </a:prstGeom>
        </p:spPr>
      </p:pic>
    </p:spTree>
    <p:extLst>
      <p:ext uri="{BB962C8B-B14F-4D97-AF65-F5344CB8AC3E}">
        <p14:creationId xmlns:p14="http://schemas.microsoft.com/office/powerpoint/2010/main" val="18105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g215a699482b_0_554"/>
          <p:cNvPicPr preferRelativeResize="0"/>
          <p:nvPr/>
        </p:nvPicPr>
        <p:blipFill rotWithShape="1">
          <a:blip r:embed="rId3">
            <a:alphaModFix/>
          </a:blip>
          <a:srcRect t="7834" b="7834"/>
          <a:stretch/>
        </p:blipFill>
        <p:spPr>
          <a:xfrm>
            <a:off x="0" y="0"/>
            <a:ext cx="12192000" cy="6858001"/>
          </a:xfrm>
          <a:prstGeom prst="rect">
            <a:avLst/>
          </a:prstGeom>
          <a:noFill/>
          <a:ln>
            <a:noFill/>
          </a:ln>
        </p:spPr>
      </p:pic>
      <p:sp>
        <p:nvSpPr>
          <p:cNvPr id="430" name="Google Shape;430;g215a699482b_0_55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431" name="Google Shape;431;g215a699482b_0_55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2" name="Google Shape;432;g215a699482b_0_55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35</a:t>
            </a:fld>
            <a:endParaRPr sz="900" b="0" i="0" u="none" strike="noStrike" cap="none">
              <a:solidFill>
                <a:srgbClr val="FFFFFF"/>
              </a:solidFill>
              <a:latin typeface="Poppins"/>
              <a:ea typeface="Poppins"/>
              <a:cs typeface="Poppins"/>
              <a:sym typeface="Poppins"/>
            </a:endParaRPr>
          </a:p>
        </p:txBody>
      </p:sp>
      <p:sp>
        <p:nvSpPr>
          <p:cNvPr id="433" name="Google Shape;433;g215a699482b_0_554"/>
          <p:cNvSpPr/>
          <p:nvPr/>
        </p:nvSpPr>
        <p:spPr>
          <a:xfrm>
            <a:off x="0" y="2547468"/>
            <a:ext cx="7222500" cy="2325600"/>
          </a:xfrm>
          <a:prstGeom prst="rect">
            <a:avLst/>
          </a:prstGeom>
          <a:solidFill>
            <a:schemeClr val="accent4">
              <a:alpha val="8392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4" name="Google Shape;434;g215a699482b_0_554"/>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lvl="0">
              <a:lnSpc>
                <a:spcPct val="120000"/>
              </a:lnSpc>
              <a:spcAft>
                <a:spcPts val="600"/>
              </a:spcAft>
              <a:buSzPts val="1800"/>
            </a:pPr>
            <a:r>
              <a:rPr lang="en-US" sz="2800" b="1" dirty="0">
                <a:solidFill>
                  <a:srgbClr val="FFFFFF"/>
                </a:solidFill>
                <a:latin typeface="Poppins"/>
                <a:ea typeface="Poppins"/>
                <a:cs typeface="Poppins"/>
                <a:sym typeface="Poppins"/>
              </a:rPr>
              <a:t>Kesimpulan</a:t>
            </a:r>
            <a:endParaRPr sz="2800" b="0" i="0" u="none" strike="noStrike" cap="none" dirty="0">
              <a:solidFill>
                <a:srgbClr val="FFFFFF"/>
              </a:solidFill>
              <a:latin typeface="Poppins"/>
              <a:ea typeface="Poppins"/>
              <a:cs typeface="Poppins"/>
              <a:sym typeface="Poppins"/>
            </a:endParaRPr>
          </a:p>
        </p:txBody>
      </p:sp>
      <p:pic>
        <p:nvPicPr>
          <p:cNvPr id="435" name="Google Shape;435;g215a699482b_0_55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668452" y="1751340"/>
            <a:ext cx="11303283" cy="2503249"/>
          </a:xfrm>
          <a:prstGeom prst="rect">
            <a:avLst/>
          </a:prstGeom>
          <a:noFill/>
        </p:spPr>
        <p:txBody>
          <a:bodyPr wrap="square">
            <a:spAutoFit/>
          </a:bodyPr>
          <a:lstStyle/>
          <a:p>
            <a:pPr marL="342900" indent="-342900">
              <a:spcBef>
                <a:spcPts val="1000"/>
              </a:spcBef>
              <a:buFont typeface="Arial" panose="020B0604020202020204" pitchFamily="34" charset="0"/>
              <a:buChar char="•"/>
            </a:pPr>
            <a:r>
              <a:rPr lang="en-GB" sz="2000" dirty="0">
                <a:latin typeface="Poppins" panose="020B0604020202020204" charset="0"/>
                <a:cs typeface="Poppins" panose="020B0604020202020204" charset="0"/>
              </a:rPr>
              <a:t>EDA end-to-end dan dashboard Power BI </a:t>
            </a:r>
            <a:r>
              <a:rPr lang="en-GB" sz="2000" dirty="0" err="1">
                <a:latin typeface="Poppins" panose="020B0604020202020204" charset="0"/>
                <a:cs typeface="Poppins" panose="020B0604020202020204" charset="0"/>
              </a:rPr>
              <a:t>interaktif</a:t>
            </a:r>
            <a:r>
              <a:rPr lang="en-GB" sz="2000" dirty="0">
                <a:latin typeface="Poppins" panose="020B0604020202020204" charset="0"/>
                <a:cs typeface="Poppins" panose="020B0604020202020204" charset="0"/>
              </a:rPr>
              <a:t> yang </a:t>
            </a:r>
            <a:r>
              <a:rPr lang="en-GB" sz="2000" dirty="0" err="1">
                <a:latin typeface="Poppins" panose="020B0604020202020204" charset="0"/>
                <a:cs typeface="Poppins" panose="020B0604020202020204" charset="0"/>
              </a:rPr>
              <a:t>telah</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selesai</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menampilkan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wawasan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musiman</a:t>
            </a:r>
            <a:r>
              <a:rPr lang="en-GB" sz="2000" dirty="0">
                <a:latin typeface="Poppins" panose="020B0604020202020204" charset="0"/>
                <a:cs typeface="Poppins" panose="020B0604020202020204" charset="0"/>
              </a:rPr>
              <a:t>, SKU, </a:t>
            </a:r>
            <a:r>
              <a:rPr lang="en-GB" sz="2000" dirty="0" err="1">
                <a:latin typeface="Poppins" panose="020B0604020202020204" charset="0"/>
                <a:cs typeface="Poppins" panose="020B0604020202020204" charset="0"/>
              </a:rPr>
              <a:t>saluran</a:t>
            </a:r>
            <a:r>
              <a:rPr lang="en-GB" sz="2000" dirty="0">
                <a:latin typeface="Poppins" panose="020B0604020202020204" charset="0"/>
                <a:cs typeface="Poppins" panose="020B0604020202020204" charset="0"/>
              </a:rPr>
              <a:t> &amp; regional. </a:t>
            </a:r>
          </a:p>
          <a:p>
            <a:pPr marL="342900" indent="-342900">
              <a:spcBef>
                <a:spcPts val="1000"/>
              </a:spcBef>
              <a:buFont typeface="Arial" panose="020B0604020202020204" pitchFamily="34" charset="0"/>
              <a:buChar char="•"/>
            </a:pPr>
            <a:r>
              <a:rPr lang="en-GB" sz="2000" dirty="0" err="1">
                <a:latin typeface="Poppins" panose="020B0604020202020204" charset="0"/>
                <a:cs typeface="Poppins" panose="020B0604020202020204" charset="0"/>
              </a:rPr>
              <a:t>Wawasan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menginformasikan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kebijakan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penjualan</a:t>
            </a:r>
            <a:r>
              <a:rPr lang="en-GB" sz="2000" dirty="0">
                <a:latin typeface="Poppins" panose="020B0604020202020204" charset="0"/>
                <a:cs typeface="Poppins" panose="020B0604020202020204" charset="0"/>
              </a:rPr>
              <a:t> dan </a:t>
            </a:r>
            <a:r>
              <a:rPr lang="en-GB" sz="2000" dirty="0" err="1">
                <a:latin typeface="Poppins" panose="020B0604020202020204" charset="0"/>
                <a:cs typeface="Poppins" panose="020B0604020202020204" charset="0"/>
              </a:rPr>
              <a:t>perencanaan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operasional</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persiapan</a:t>
            </a:r>
            <a:r>
              <a:rPr lang="en-GB" sz="2000" dirty="0">
                <a:latin typeface="Poppins" panose="020B0604020202020204" charset="0"/>
                <a:cs typeface="Poppins" panose="020B0604020202020204" charset="0"/>
              </a:rPr>
              <a:t> toko &amp; </a:t>
            </a:r>
            <a:r>
              <a:rPr lang="en-GB" sz="2000" dirty="0" err="1">
                <a:latin typeface="Poppins" panose="020B0604020202020204" charset="0"/>
                <a:cs typeface="Poppins" panose="020B0604020202020204" charset="0"/>
              </a:rPr>
              <a:t>gudang</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sesuai</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tren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tahunan</a:t>
            </a:r>
            <a:r>
              <a:rPr lang="en-GB" sz="2000" dirty="0">
                <a:latin typeface="Poppins" panose="020B0604020202020204" charset="0"/>
                <a:cs typeface="Poppins" panose="020B0604020202020204" charset="0"/>
              </a:rPr>
              <a:t>). </a:t>
            </a:r>
          </a:p>
          <a:p>
            <a:pPr marL="342900" indent="-342900">
              <a:spcBef>
                <a:spcPts val="1000"/>
              </a:spcBef>
              <a:buFont typeface="Arial" panose="020B0604020202020204" pitchFamily="34" charset="0"/>
              <a:buChar char="•"/>
            </a:pPr>
            <a:r>
              <a:rPr lang="en-GB" sz="2000" dirty="0" err="1">
                <a:latin typeface="Poppins" panose="020B0604020202020204" charset="0"/>
                <a:cs typeface="Poppins" panose="020B0604020202020204" charset="0"/>
              </a:rPr>
              <a:t>Pemangku</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kepentingan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dapat</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melakukan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analisis</a:t>
            </a:r>
            <a:r>
              <a:rPr lang="en-GB" sz="2000" dirty="0">
                <a:latin typeface="Poppins" panose="020B0604020202020204" charset="0"/>
                <a:cs typeface="Poppins" panose="020B0604020202020204" charset="0"/>
              </a:rPr>
              <a:t> real-time </a:t>
            </a:r>
            <a:r>
              <a:rPr lang="en-GB" sz="2000" dirty="0" err="1">
                <a:latin typeface="Poppins" panose="020B0604020202020204" charset="0"/>
                <a:cs typeface="Poppins" panose="020B0604020202020204" charset="0"/>
              </a:rPr>
              <a:t>secara</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mandiri</a:t>
            </a:r>
            <a:r>
              <a:rPr lang="en-GB" sz="2000" dirty="0">
                <a:latin typeface="Poppins" panose="020B0604020202020204" charset="0"/>
                <a:cs typeface="Poppins" panose="020B0604020202020204" charset="0"/>
              </a:rPr>
              <a:t> dan </a:t>
            </a:r>
            <a:r>
              <a:rPr lang="en-GB" sz="2000" dirty="0" err="1">
                <a:latin typeface="Poppins" panose="020B0604020202020204" charset="0"/>
                <a:cs typeface="Poppins" panose="020B0604020202020204" charset="0"/>
              </a:rPr>
              <a:t>dengan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percaya</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diri</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mengadopsi</a:t>
            </a:r>
            <a:r>
              <a:rPr lang="en-GB" sz="2000" dirty="0">
                <a:latin typeface="Poppins" panose="020B0604020202020204" charset="0"/>
                <a:cs typeface="Poppins" panose="020B0604020202020204" charset="0"/>
              </a:rPr>
              <a:t> dataset </a:t>
            </a:r>
            <a:r>
              <a:rPr lang="en-GB" sz="2000" dirty="0" err="1">
                <a:latin typeface="Poppins" panose="020B0604020202020204" charset="0"/>
                <a:cs typeface="Poppins" panose="020B0604020202020204" charset="0"/>
              </a:rPr>
              <a:t>baru</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untuk</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kasus</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penggunaan</a:t>
            </a:r>
            <a:r>
              <a:rPr lang="en-GB" sz="2000" dirty="0">
                <a:latin typeface="Poppins" panose="020B0604020202020204" charset="0"/>
                <a:cs typeface="Poppins" panose="020B0604020202020204" charset="0"/>
              </a:rPr>
              <a:t> </a:t>
            </a:r>
            <a:r>
              <a:rPr lang="en-GB" sz="2000" dirty="0" err="1">
                <a:latin typeface="Poppins" panose="020B0604020202020204" charset="0"/>
                <a:cs typeface="Poppins" panose="020B0604020202020204" charset="0"/>
              </a:rPr>
              <a:t>tambahan</a:t>
            </a:r>
            <a:r>
              <a:rPr lang="en-GB" sz="2000" dirty="0">
                <a:latin typeface="Poppins" panose="020B0604020202020204" charset="0"/>
                <a:cs typeface="Poppins" panose="020B0604020202020204" charset="0"/>
              </a:rPr>
              <a:t>.</a:t>
            </a:r>
            <a:endParaRPr lang="en-IN" sz="20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85129" y="182109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5129" y="2728304"/>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85129" y="3635513"/>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tretch>
            <a:fillRect/>
          </a:stretch>
        </p:blipFill>
        <p:spPr>
          <a:xfrm>
            <a:off x="6638926" y="372008"/>
            <a:ext cx="427972" cy="427972"/>
          </a:xfrm>
          <a:prstGeom prst="rect">
            <a:avLst/>
          </a:prstGeom>
        </p:spPr>
      </p:pic>
      <p:sp>
        <p:nvSpPr>
          <p:cNvPr id="16" name="TextBox 15">
            <a:extLst>
              <a:ext uri="{FF2B5EF4-FFF2-40B4-BE49-F238E27FC236}">
                <a16:creationId xmlns:a16="http://schemas.microsoft.com/office/drawing/2014/main" id="{949A4F80-588E-41BA-A9AE-5B43AC3CC4D8}"/>
              </a:ext>
            </a:extLst>
          </p:cNvPr>
          <p:cNvSpPr txBox="1"/>
          <p:nvPr/>
        </p:nvSpPr>
        <p:spPr>
          <a:xfrm>
            <a:off x="3802898" y="312933"/>
            <a:ext cx="2969377" cy="584775"/>
          </a:xfrm>
          <a:prstGeom prst="rect">
            <a:avLst/>
          </a:prstGeom>
          <a:noFill/>
        </p:spPr>
        <p:txBody>
          <a:bodyPr wrap="square">
            <a:spAutoFit/>
          </a:bodyPr>
          <a:lstStyle/>
          <a:p>
            <a:r>
              <a:rPr lang="en-IN" sz="3200" b="1">
                <a:solidFill>
                  <a:srgbClr val="000000">
                    <a:lumMod val="65000"/>
                    <a:lumOff val="35000"/>
                  </a:srgbClr>
                </a:solidFill>
                <a:latin typeface="Poppins"/>
                <a:cs typeface="Poppins"/>
                <a:sym typeface="Poppins"/>
              </a:rPr>
              <a:t>Kesimpulan</a:t>
            </a:r>
            <a:endParaRPr lang="en-IN" sz="3200" dirty="0"/>
          </a:p>
        </p:txBody>
      </p:sp>
    </p:spTree>
    <p:extLst>
      <p:ext uri="{BB962C8B-B14F-4D97-AF65-F5344CB8AC3E}">
        <p14:creationId xmlns:p14="http://schemas.microsoft.com/office/powerpoint/2010/main" val="4041496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EF86CAF-AF8E-4B21-8106-07E3225F85F6}"/>
              </a:ext>
            </a:extLst>
          </p:cNvPr>
          <p:cNvSpPr txBox="1"/>
          <p:nvPr/>
        </p:nvSpPr>
        <p:spPr>
          <a:xfrm>
            <a:off x="3940497" y="1800953"/>
            <a:ext cx="5361158" cy="1015663"/>
          </a:xfrm>
          <a:prstGeom prst="rect">
            <a:avLst/>
          </a:prstGeom>
          <a:noFill/>
        </p:spPr>
        <p:txBody>
          <a:bodyPr wrap="square">
            <a:spAutoFit/>
          </a:bodyPr>
          <a:lstStyle/>
          <a:p>
            <a:r>
              <a:rPr lang="en-IN" sz="6000" b="1" dirty="0" err="1">
                <a:solidFill>
                  <a:srgbClr val="000000">
                    <a:lumMod val="65000"/>
                    <a:lumOff val="35000"/>
                  </a:srgbClr>
                </a:solidFill>
                <a:latin typeface="Comic Sans MS" panose="030F0702030302020204" pitchFamily="66" charset="0"/>
                <a:cs typeface="Poppins"/>
                <a:sym typeface="Poppins"/>
              </a:rPr>
              <a:t>Terima</a:t>
            </a:r>
            <a:r>
              <a:rPr lang="en-IN" sz="6000" b="1">
                <a:solidFill>
                  <a:srgbClr val="000000">
                    <a:lumMod val="65000"/>
                    <a:lumOff val="35000"/>
                  </a:srgbClr>
                </a:solidFill>
                <a:latin typeface="Comic Sans MS" panose="030F0702030302020204" pitchFamily="66" charset="0"/>
                <a:cs typeface="Poppins"/>
                <a:sym typeface="Poppins"/>
              </a:rPr>
              <a:t> kasih</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1309</TotalTime>
  <Words>1593</Words>
  <Application>Microsoft Office PowerPoint</Application>
  <PresentationFormat>Widescreen</PresentationFormat>
  <Paragraphs>227</Paragraphs>
  <Slides>37</Slides>
  <Notes>37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Poppins</vt:lpstr>
      <vt:lpstr>Source Sans Pro</vt:lpstr>
      <vt:lpstr>Arial</vt:lpstr>
      <vt:lpstr>Comic Sans MS</vt:lpstr>
      <vt:lpstr>Calibri</vt:lpstr>
      <vt:lpstr>1_Office Theme</vt:lpstr>
      <vt:lpstr>1_Office Theme</vt:lpstr>
      <vt:lpstr>PowerPoint Presentation</vt:lpstr>
      <vt:lpstr>Agenda</vt:lpstr>
      <vt:lpstr> </vt:lpstr>
      <vt:lpstr>PowerPoint Presentation</vt:lpstr>
      <vt:lpstr> </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 </vt:lpstr>
      <vt:lpstr>Tren Penjualan Bulanan dari Waktu ke Waktu</vt:lpstr>
      <vt:lpstr>10 Produk Teratas berdasarkan Pendapatan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 </vt:lpstr>
      <vt:lpstr>Halaman 1 - Ringkasan Kinerja</vt:lpstr>
      <vt:lpstr>Halaman 2 - Segmentasi Pelanggan</vt:lpstr>
      <vt:lpstr>Halaman 3 - Skenario Pendapatan</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 Sadhukhan</dc:creator>
  <cp:lastModifiedBy>Faris</cp:lastModifiedBy>
  <cp:revision>61</cp:revision>
  <dcterms:created xsi:type="dcterms:W3CDTF">2022-09-23T13:48:30Z</dcterms:created>
  <dcterms:modified xsi:type="dcterms:W3CDTF">2026-09-02T09:56:47Z</dcterms:modified>
</cp:coreProperties>
</file>